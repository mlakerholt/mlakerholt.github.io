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27e65ab93f47e4" /><Relationship Type="http://schemas.openxmlformats.org/officeDocument/2006/relationships/extended-properties" Target="/docProps/app.xml" Id="R6841938466e1422e" /><Relationship Type="http://schemas.openxmlformats.org/officeDocument/2006/relationships/officeDocument" Target="/ppt/presentation.xml" Id="R373831cbe83549df" /></Relationships>
</file>

<file path=ppt/presentation.xml><?xml version="1.0" encoding="utf-8"?>
<p:presentation xmlns:p="http://schemas.openxmlformats.org/presentationml/2006/main">
  <p:sldMasterIdLst>
    <p:sldMasterId xmlns:r="http://schemas.openxmlformats.org/officeDocument/2006/relationships" id="2147483648" r:id="R8f802c416e1e4f30"/>
  </p:sldMasterIdLst>
  <p:notesMasterIdLst>
    <p:notesMasterId xmlns:r="http://schemas.openxmlformats.org/officeDocument/2006/relationships" r:id="Reeb175cfc76e4ea7"/>
  </p:notesMasterIdLst>
  <p:sldIdLst>
    <p:sldId xmlns:r="http://schemas.openxmlformats.org/officeDocument/2006/relationships" id="256" r:id="R858cabab760d4754"/>
    <p:sldId xmlns:r="http://schemas.openxmlformats.org/officeDocument/2006/relationships" id="257" r:id="R0fc426ef7a6e45c5"/>
    <p:sldId xmlns:r="http://schemas.openxmlformats.org/officeDocument/2006/relationships" id="258" r:id="R000e6042bfa14438"/>
    <p:sldId xmlns:r="http://schemas.openxmlformats.org/officeDocument/2006/relationships" id="259" r:id="R942aab436f174008"/>
    <p:sldId xmlns:r="http://schemas.openxmlformats.org/officeDocument/2006/relationships" id="260" r:id="Rb69640c52f904045"/>
    <p:sldId xmlns:r="http://schemas.openxmlformats.org/officeDocument/2006/relationships" id="261" r:id="R4527d9a1e09a44d6"/>
    <p:sldId xmlns:r="http://schemas.openxmlformats.org/officeDocument/2006/relationships" id="262" r:id="R11cc68c77ce14837"/>
    <p:sldId xmlns:r="http://schemas.openxmlformats.org/officeDocument/2006/relationships" id="263" r:id="R46545047e7684f09"/>
    <p:sldId xmlns:r="http://schemas.openxmlformats.org/officeDocument/2006/relationships" id="264" r:id="R9838aedac7ab485d"/>
    <p:sldId xmlns:r="http://schemas.openxmlformats.org/officeDocument/2006/relationships" id="265" r:id="Rbf688f72c4974cb3"/>
    <p:sldId xmlns:r="http://schemas.openxmlformats.org/officeDocument/2006/relationships" id="266" r:id="R893ec2e0c6f8407c"/>
    <p:sldId xmlns:r="http://schemas.openxmlformats.org/officeDocument/2006/relationships" id="267" r:id="R581718a67c094760"/>
    <p:sldId xmlns:r="http://schemas.openxmlformats.org/officeDocument/2006/relationships" id="268" r:id="R842a4c031f4040d2"/>
    <p:sldId xmlns:r="http://schemas.openxmlformats.org/officeDocument/2006/relationships" id="269" r:id="R9888d64af2564afe"/>
    <p:sldId xmlns:r="http://schemas.openxmlformats.org/officeDocument/2006/relationships" id="270" r:id="Rc84547d578be4401"/>
    <p:sldId xmlns:r="http://schemas.openxmlformats.org/officeDocument/2006/relationships" id="271" r:id="Rc49f917dd7824304"/>
    <p:sldId xmlns:r="http://schemas.openxmlformats.org/officeDocument/2006/relationships" id="272" r:id="R765ecb4090cf481a"/>
    <p:sldId xmlns:r="http://schemas.openxmlformats.org/officeDocument/2006/relationships" id="273" r:id="R8a4bf0019c3e4fa7"/>
    <p:sldId xmlns:r="http://schemas.openxmlformats.org/officeDocument/2006/relationships" id="274" r:id="Rb2865cf0ed4449c1"/>
    <p:sldId xmlns:r="http://schemas.openxmlformats.org/officeDocument/2006/relationships" id="275" r:id="Rc3e3fae216ae45df"/>
    <p:sldId xmlns:r="http://schemas.openxmlformats.org/officeDocument/2006/relationships" id="276" r:id="Rf7d9eeb60de942d7"/>
    <p:sldId xmlns:r="http://schemas.openxmlformats.org/officeDocument/2006/relationships" id="277" r:id="R1fd841368f794bb1"/>
    <p:sldId xmlns:r="http://schemas.openxmlformats.org/officeDocument/2006/relationships" id="278" r:id="R0860827f422742f2"/>
    <p:sldId xmlns:r="http://schemas.openxmlformats.org/officeDocument/2006/relationships" id="279" r:id="R681946b90f214c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b0b1fd8e4340e8" /><Relationship Type="http://schemas.openxmlformats.org/officeDocument/2006/relationships/slideMaster" Target="/ppt/slideMasters/slideMaster1.xml" Id="R8f802c416e1e4f30" /><Relationship Type="http://schemas.openxmlformats.org/officeDocument/2006/relationships/notesMaster" Target="/ppt/notesMasters/notesMaster1.xml" Id="Reeb175cfc76e4ea7" /><Relationship Type="http://schemas.openxmlformats.org/officeDocument/2006/relationships/presProps" Target="/ppt/presProps.xml" Id="R9147b9df5a6d4e2a" /><Relationship Type="http://schemas.openxmlformats.org/officeDocument/2006/relationships/tableStyles" Target="/ppt/tableStyles.xml" Id="R5b93ae7b0d3944fb" /><Relationship Type="http://schemas.openxmlformats.org/officeDocument/2006/relationships/slide" Target="/ppt/slides/slide1.xml" Id="R858cabab760d4754" /><Relationship Type="http://schemas.openxmlformats.org/officeDocument/2006/relationships/slide" Target="/ppt/slides/slide2.xml" Id="R0fc426ef7a6e45c5" /><Relationship Type="http://schemas.openxmlformats.org/officeDocument/2006/relationships/slide" Target="/ppt/slides/slide3.xml" Id="R000e6042bfa14438" /><Relationship Type="http://schemas.openxmlformats.org/officeDocument/2006/relationships/slide" Target="/ppt/slides/slide4.xml" Id="R942aab436f174008" /><Relationship Type="http://schemas.openxmlformats.org/officeDocument/2006/relationships/slide" Target="/ppt/slides/slide5.xml" Id="Rb69640c52f904045" /><Relationship Type="http://schemas.openxmlformats.org/officeDocument/2006/relationships/slide" Target="/ppt/slides/slide6.xml" Id="R4527d9a1e09a44d6" /><Relationship Type="http://schemas.openxmlformats.org/officeDocument/2006/relationships/slide" Target="/ppt/slides/slide7.xml" Id="R11cc68c77ce14837" /><Relationship Type="http://schemas.openxmlformats.org/officeDocument/2006/relationships/slide" Target="/ppt/slides/slide8.xml" Id="R46545047e7684f09" /><Relationship Type="http://schemas.openxmlformats.org/officeDocument/2006/relationships/slide" Target="/ppt/slides/slide9.xml" Id="R9838aedac7ab485d" /><Relationship Type="http://schemas.openxmlformats.org/officeDocument/2006/relationships/slide" Target="/ppt/slides/slide10.xml" Id="Rbf688f72c4974cb3" /><Relationship Type="http://schemas.openxmlformats.org/officeDocument/2006/relationships/slide" Target="/ppt/slides/slide11.xml" Id="R893ec2e0c6f8407c" /><Relationship Type="http://schemas.openxmlformats.org/officeDocument/2006/relationships/slide" Target="/ppt/slides/slide12.xml" Id="R581718a67c094760" /><Relationship Type="http://schemas.openxmlformats.org/officeDocument/2006/relationships/slide" Target="/ppt/slides/slide13.xml" Id="R842a4c031f4040d2" /><Relationship Type="http://schemas.openxmlformats.org/officeDocument/2006/relationships/slide" Target="/ppt/slides/slide14.xml" Id="R9888d64af2564afe" /><Relationship Type="http://schemas.openxmlformats.org/officeDocument/2006/relationships/slide" Target="/ppt/slides/slide15.xml" Id="Rc84547d578be4401" /><Relationship Type="http://schemas.openxmlformats.org/officeDocument/2006/relationships/slide" Target="/ppt/slides/slide16.xml" Id="Rc49f917dd7824304" /><Relationship Type="http://schemas.openxmlformats.org/officeDocument/2006/relationships/slide" Target="/ppt/slides/slide17.xml" Id="R765ecb4090cf481a" /><Relationship Type="http://schemas.openxmlformats.org/officeDocument/2006/relationships/slide" Target="/ppt/slides/slide18.xml" Id="R8a4bf0019c3e4fa7" /><Relationship Type="http://schemas.openxmlformats.org/officeDocument/2006/relationships/slide" Target="/ppt/slides/slide19.xml" Id="Rb2865cf0ed4449c1" /><Relationship Type="http://schemas.openxmlformats.org/officeDocument/2006/relationships/slide" Target="/ppt/slides/slide20.xml" Id="Rc3e3fae216ae45df" /><Relationship Type="http://schemas.openxmlformats.org/officeDocument/2006/relationships/slide" Target="/ppt/slides/slide21.xml" Id="Rf7d9eeb60de942d7" /><Relationship Type="http://schemas.openxmlformats.org/officeDocument/2006/relationships/slide" Target="/ppt/slides/slide22.xml" Id="R1fd841368f794bb1" /><Relationship Type="http://schemas.openxmlformats.org/officeDocument/2006/relationships/slide" Target="/ppt/slides/slide23.xml" Id="R0860827f422742f2" /><Relationship Type="http://schemas.openxmlformats.org/officeDocument/2006/relationships/slide" Target="/ppt/slides/slide24.xml" Id="R681946b90f214c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ea52a0782c4b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588be1ba2a457d" /><Relationship Type="http://schemas.openxmlformats.org/officeDocument/2006/relationships/notesMaster" Target="/ppt/notesMasters/notesMaster1.xml" Id="R8defe6a026c54f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8d027935fc44d9" /><Relationship Type="http://schemas.openxmlformats.org/officeDocument/2006/relationships/notesMaster" Target="/ppt/notesMasters/notesMaster1.xml" Id="Reb022c7ecad248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0b8c05db0346d0" /><Relationship Type="http://schemas.openxmlformats.org/officeDocument/2006/relationships/notesMaster" Target="/ppt/notesMasters/notesMaster1.xml" Id="Rb3dde4229f7f48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93cede187747aa" /><Relationship Type="http://schemas.openxmlformats.org/officeDocument/2006/relationships/notesMaster" Target="/ppt/notesMasters/notesMaster1.xml" Id="Rc8966c06f4c446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862539d8fb4b8a" /><Relationship Type="http://schemas.openxmlformats.org/officeDocument/2006/relationships/notesMaster" Target="/ppt/notesMasters/notesMaster1.xml" Id="R877b86d1cc204f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0dcbb9ee624bc4" /><Relationship Type="http://schemas.openxmlformats.org/officeDocument/2006/relationships/notesMaster" Target="/ppt/notesMasters/notesMaster1.xml" Id="R2467ce4085064c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4fb1ca9b5940bb" /><Relationship Type="http://schemas.openxmlformats.org/officeDocument/2006/relationships/notesMaster" Target="/ppt/notesMasters/notesMaster1.xml" Id="R30912ffda34d44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79af8ab38e4083" /><Relationship Type="http://schemas.openxmlformats.org/officeDocument/2006/relationships/notesMaster" Target="/ppt/notesMasters/notesMaster1.xml" Id="R51ddfc6f48a442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a78bc322b04fd3" /><Relationship Type="http://schemas.openxmlformats.org/officeDocument/2006/relationships/notesMaster" Target="/ppt/notesMasters/notesMaster1.xml" Id="R1ffb0d8a773949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aaf8cdef424918" /><Relationship Type="http://schemas.openxmlformats.org/officeDocument/2006/relationships/notesMaster" Target="/ppt/notesMasters/notesMaster1.xml" Id="R06a34529acb240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d035af839e408f" /><Relationship Type="http://schemas.openxmlformats.org/officeDocument/2006/relationships/notesMaster" Target="/ppt/notesMasters/notesMaster1.xml" Id="Rc28cdabcc8064d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87d202da30472d" /><Relationship Type="http://schemas.openxmlformats.org/officeDocument/2006/relationships/notesMaster" Target="/ppt/notesMasters/notesMaster1.xml" Id="Rddb751b6d1b24d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067d8fcfa6435a" /><Relationship Type="http://schemas.openxmlformats.org/officeDocument/2006/relationships/notesMaster" Target="/ppt/notesMasters/notesMaster1.xml" Id="R5c12a338534941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236fa1548c456a" /><Relationship Type="http://schemas.openxmlformats.org/officeDocument/2006/relationships/notesMaster" Target="/ppt/notesMasters/notesMaster1.xml" Id="R8dc7fae97fec4c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0c3e978d4e4fc5" /><Relationship Type="http://schemas.openxmlformats.org/officeDocument/2006/relationships/notesMaster" Target="/ppt/notesMasters/notesMaster1.xml" Id="R1ab9359a395e4c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fe0deecfb54a4e" /><Relationship Type="http://schemas.openxmlformats.org/officeDocument/2006/relationships/notesMaster" Target="/ppt/notesMasters/notesMaster1.xml" Id="Rd9044950af9746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940ad93b134ba5" /><Relationship Type="http://schemas.openxmlformats.org/officeDocument/2006/relationships/notesMaster" Target="/ppt/notesMasters/notesMaster1.xml" Id="Rb7e0d84a6aeb42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1dc4c8106a44f8" /><Relationship Type="http://schemas.openxmlformats.org/officeDocument/2006/relationships/notesMaster" Target="/ppt/notesMasters/notesMaster1.xml" Id="R32b4340a1d22452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45444dba211434f" /><Relationship Type="http://schemas.openxmlformats.org/officeDocument/2006/relationships/notesMaster" Target="/ppt/notesMasters/notesMaster1.xml" Id="R18cc2960de4647a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4fdabeddd184ae9" /><Relationship Type="http://schemas.openxmlformats.org/officeDocument/2006/relationships/notesMaster" Target="/ppt/notesMasters/notesMaster1.xml" Id="R85bb4631decc4f2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d66f4cc1db418b" /><Relationship Type="http://schemas.openxmlformats.org/officeDocument/2006/relationships/notesMaster" Target="/ppt/notesMasters/notesMaster1.xml" Id="R8c4a1265d80d49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1f0020983a417e" /><Relationship Type="http://schemas.openxmlformats.org/officeDocument/2006/relationships/notesMaster" Target="/ppt/notesMasters/notesMaster1.xml" Id="R3a6f5c476f5a40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236ee248f7346d8" /><Relationship Type="http://schemas.openxmlformats.org/officeDocument/2006/relationships/notesMaster" Target="/ppt/notesMasters/notesMaster1.xml" Id="R5f5812747f7445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d82675bf92b44ce" /><Relationship Type="http://schemas.openxmlformats.org/officeDocument/2006/relationships/notesMaster" Target="/ppt/notesMasters/notesMaster1.xml" Id="R71bf1476908f41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presentation of the Evozyme starter workflow for enzyme directed evolution. Slides 1–20 form the main presentation, approximately 20 minutes. Slides 21–24 provide reference material for discussion. The default is an individually tracked, plate-based campaign. Enzyme-specific assays and expression systems still require validation. Numerical screening and cost examples are illustrative and clearly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access to routine molecular-biology infrastructure and a reliable activity measurement. Shared equipment and outsourced sequencing are valid parts of the platform. The assay determines the required detector. A GPU, sorter, robot or custom imaging system is optional until a demonstrated limitation supports it. This is a proposed starting configuration, not a universal biochemical protocol.</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York’s published setup combined a roughly 10-cm field of view, PCO edge 4.2 bi camera, Zeiss 100-mm lens, filtered LEDs, NI control hardware and Python. The group reported approximately 10,000 colonies per day. Single-residue libraries worked better for that campaign than the broad random libraries they tried. Nitrocellulose transfer helped control the colonies’ chemical environment. These are campaign-specific observations. The magnetic hardware in MagLOV addressed a specialized sensor readout.</a:t>
            </a:r>
          </a:p>
          <a:p xmlns:a="http://schemas.openxmlformats.org/drawingml/2006/main">
            <a:r>
              <a:t/>
            </a:r>
          </a:p>
          <a:p xmlns:a="http://schemas.openxmlformats.org/drawingml/2006/main">
            <a:r>
              <a:t>Sources</a:t>
            </a:r>
          </a:p>
          <a:p xmlns:a="http://schemas.openxmlformats.org/drawingml/2006/main">
            <a:r>
              <a:t>https://andrewgyork.github.io/relaxation_sensors/appendix.html</a:t>
            </a:r>
          </a:p>
          <a:p xmlns:a="http://schemas.openxmlformats.org/drawingml/2006/main">
            <a:r>
              <a:t>https://andrewgyork.github.io/gfp_magnetofluorescence/appendix.html</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stage has an exit criterion. Establish active parent material and assay quality before expanding the library. The pilot exercises the entire tracking chain. Confirmation uses independent preparations and the intended reaction. Archive the original parent and confirmed lineages so later rounds remain comparable. Routine PCR, assembly, transformation, expression and storage follow established local methods.</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Specify the substrate, conditions, measurement units, normalization basis and required secondary properties. Activity per culture volume can improve through expression or recovery. Activity per quantified target enzyme addresses a different question. A single-substrate rate does not determine kcat or Km. Technical and independent preparation replication must remain distinguishable. Complete the campaign brief before building a large library.</a:t>
            </a:r>
          </a:p>
          <a:p xmlns:a="http://schemas.openxmlformats.org/drawingml/2006/main">
            <a:r>
              <a:t/>
            </a:r>
          </a:p>
          <a:p xmlns:a="http://schemas.openxmlformats.org/drawingml/2006/main">
            <a:r>
              <a:t>Sources</a:t>
            </a:r>
          </a:p>
          <a:p xmlns:a="http://schemas.openxmlformats.org/drawingml/2006/main">
            <a:r>
              <a:t>https://www.ncbi.nlm.nih.gov/books/NBK92007/</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laboratory E. coli system is a useful default only when it produces active protein. Folding, localization, disulfide formation or required processing can justify a different strain or host. Compare a characterized variant panel when changing format because the ranking may change. Crude preparations require checks that the target enzyme causes the measured activity.</a:t>
            </a:r>
          </a:p>
          <a:p xmlns:a="http://schemas.openxmlformats.org/drawingml/2006/main">
            <a:r>
              <a:t/>
            </a:r>
          </a:p>
          <a:p xmlns:a="http://schemas.openxmlformats.org/drawingml/2006/main">
            <a:r>
              <a:t>Sources</a:t>
            </a:r>
          </a:p>
          <a:p xmlns:a="http://schemas.openxmlformats.org/drawingml/2006/main">
            <a:r>
              <a:t>https://www.neb.com/tools-and-resources/feature-articles/bypassing-common-obstacles-in-protein-expression</a:t>
            </a:r>
          </a:p>
          <a:p xmlns:a="http://schemas.openxmlformats.org/drawingml/2006/main">
            <a:r>
              <a:t>https://www.ncbi.nlm.nih.gov/books/NBK91995/</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Ownership is not required for every capability. Confirm compatibility across culture vessels, shaker fixtures, centrifuge carriers, transfer volumes, assay plates and reader. Routine equipment includes thermocycler, gel access, pipettes, centrifuges, incubators, heating, pH measurement, refrigeration and freezers. Sequencing and analytical services must have enough capacity for confirmation. A low-speed plate spinner may be unsuitable for cell pelleting.</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these capabilities using the actual assay and matrix. Verify 340-nm operation and plate transmission for NADH/NADPH assays. Check complete-plate read timing, mixing and temperature equilibration. Vendor specifications are a starting point. With used equipment, confirm transferable software, computer compatibility, accessories and serviceability before interpreting the price as a complete installed cost.</a:t>
            </a:r>
          </a:p>
          <a:p xmlns:a="http://schemas.openxmlformats.org/drawingml/2006/main">
            <a:r>
              <a:t/>
            </a:r>
          </a:p>
          <a:p xmlns:a="http://schemas.openxmlformats.org/drawingml/2006/main">
            <a:r>
              <a:t>Sources</a:t>
            </a:r>
          </a:p>
          <a:p xmlns:a="http://schemas.openxmlformats.org/drawingml/2006/main">
            <a:r>
              <a:t>https://www.bmglabtech.com/en/incubation-and-shaking/</a:t>
            </a:r>
          </a:p>
          <a:p xmlns:a="http://schemas.openxmlformats.org/drawingml/2006/main">
            <a:r>
              <a:t>https://www.corning.com/catalog/cls/documents/selection-guides/CLS-DD-081.pdf</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 or an existing sequence editor handles sequence work. Primer design must match the chosen construction method. NEBaseChanger supports the Q5 method. A spreadsheet is sufficient for early maps and registers. Vendor software controls acquisition. The supplied Python example has a standard-library calculation core, with Matplotlib only for plots. Save raw exports unchanged, retain settings, and test backup restoration. More complex databases or notebook environments are optional.</a:t>
            </a:r>
          </a:p>
          <a:p xmlns:a="http://schemas.openxmlformats.org/drawingml/2006/main">
            <a:r>
              <a:t/>
            </a:r>
          </a:p>
          <a:p xmlns:a="http://schemas.openxmlformats.org/drawingml/2006/main">
            <a:r>
              <a:t>Sources</a:t>
            </a:r>
          </a:p>
          <a:p xmlns:a="http://schemas.openxmlformats.org/drawingml/2006/main">
            <a:r>
              <a:t>https://jorgensen.biology.utah.edu/wayned/ape/</a:t>
            </a:r>
          </a:p>
          <a:p xmlns:a="http://schemas.openxmlformats.org/drawingml/2006/main">
            <a:r>
              <a:t>https://nebasechanger.neb.com/</a:t>
            </a:r>
          </a:p>
          <a:p xmlns:a="http://schemas.openxmlformats.org/drawingml/2006/main">
            <a:r>
              <a:t>https://www.libreoffice.org/</a:t>
            </a:r>
          </a:p>
          <a:p xmlns:a="http://schemas.openxmlformats.org/drawingml/2006/main">
            <a:r>
              <a:t>https://matplotlib.org/</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access configurations, not vendor bundles or current price quotes. The analytical requirements remain similar when handling scales up. A robot can move the bottleneck to cultivation, reading or confirmation. Compare complete installed cost, staff effort, recurring use and maintenance. Start with the configuration that the assay and workload justify.</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Detector linearity and reaction linearity are different checks. Establish appropriate background, matrix interference, product recovery and a validated fitting rule. Distributed controls can reveal plate position or read-order effects. Use independent parent preparations to estimate preparation variation. Choose a minimum worthwhile improvement and retest policy before selecting extreme values from many candidates. Control separation alone does not establish enzyme specificity.</a:t>
            </a:r>
          </a:p>
          <a:p xmlns:a="http://schemas.openxmlformats.org/drawingml/2006/main">
            <a:r>
              <a:t/>
            </a:r>
          </a:p>
          <a:p xmlns:a="http://schemas.openxmlformats.org/drawingml/2006/main">
            <a:r>
              <a:t>Sources</a:t>
            </a:r>
          </a:p>
          <a:p xmlns:a="http://schemas.openxmlformats.org/drawingml/2006/main">
            <a:r>
              <a:t>https://www.ncbi.nlm.nih.gov/books/NBK92007/</a:t>
            </a:r>
          </a:p>
          <a:p xmlns:a="http://schemas.openxmlformats.org/drawingml/2006/main">
            <a:r>
              <a:t>https://www.ncbi.nlm.nih.gov/books/NBK91995/</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first choice is a bounded variant set or a small number of tracked site libraries. Random mutagenesis and recombination remain useful when assay capacity supports the distribution of outcomes. Sample representative sequences to identify gross construction defects and parental carryover. A small sequence sample does not prove completeness. Confirmed hits need identity checks and recoverable stocks.</a:t>
            </a:r>
          </a:p>
          <a:p xmlns:a="http://schemas.openxmlformats.org/drawingml/2006/main">
            <a:r>
              <a:t/>
            </a:r>
          </a:p>
          <a:p xmlns:a="http://schemas.openxmlformats.org/drawingml/2006/main">
            <a:r>
              <a:t>Sources</a:t>
            </a:r>
          </a:p>
          <a:p xmlns:a="http://schemas.openxmlformats.org/drawingml/2006/main">
            <a:r>
              <a:t>https://academic.oup.com/bioinformatics/article/21/15/3314/195665</a:t>
            </a:r>
          </a:p>
          <a:p xmlns:a="http://schemas.openxmlformats.org/drawingml/2006/main">
            <a:r>
              <a:t>https://andrewgyork.github.io/relaxation_sensors/appendix.html</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target probability p and n independent draws, probability observed is 1−(1−p)^n. Expected distinct targets sum these probabilities. The probability of observing every target is bounded below by max(0,1−sum of missing probabilities), and above by the smallest individual observed probability. These bounds are not exact completeness probabilities. NNK contains 32 codons, one TAG stop, and unequal amino-acid probabilities. At 96 draws, expected coverage is 97.1003%, while completeness is bounded between 42.0057% and 95.2540%. Repeated assays of the same clone do not add draws.</a:t>
            </a:r>
          </a:p>
          <a:p xmlns:a="http://schemas.openxmlformats.org/drawingml/2006/main">
            <a:r>
              <a:t/>
            </a:r>
          </a:p>
          <a:p xmlns:a="http://schemas.openxmlformats.org/drawingml/2006/main">
            <a:r>
              <a:t>Sources</a:t>
            </a:r>
          </a:p>
          <a:p xmlns:a="http://schemas.openxmlformats.org/drawingml/2006/main">
            <a:r>
              <a:t>https://academic.oup.com/bioinformatics/article/21/15/3314/195665</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published BSLA study used tributyrin agar and a p-nitrophenyl-butyrate microplate assay. Here that concept supports a proposed starter workflow, with confirmation on the intended substrate. The teaching plate contains 32 candidate preparations with two technical wells each, eight independent parent preparations with two wells each, eight blanks and eight host controls. Total 96 wells. This richer control layout differs from the budget example, which allocates 40 clone slots per plate. Secretion and sample format must be established for the chosen construct.</a:t>
            </a:r>
          </a:p>
          <a:p xmlns:a="http://schemas.openxmlformats.org/drawingml/2006/main">
            <a:r>
              <a:t/>
            </a:r>
          </a:p>
          <a:p xmlns:a="http://schemas.openxmlformats.org/drawingml/2006/main">
            <a:r>
              <a:t>Sources</a:t>
            </a:r>
          </a:p>
          <a:p xmlns:a="http://schemas.openxmlformats.org/drawingml/2006/main">
            <a:r>
              <a:t>https://pmc.ncbi.nlm.nih.gov/articles/PMC7139672/</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 fits the same predefined times for all wells, subtracts mean blank drift, applies the signal direction, and checks plate controls before ranking. C03 qualifies for retesting under the example rules. C07 has nonlinear traces. C19 shows technical disagreement, C23 exceeds the configured signal ceiling, and C27 has a nonpositive corrected rate. The 20% retest threshold and numerical quality limits are illustrative. The traces shown here come from technical replicate 1 and are not averaged to hide variability. Source files: toolkit/example/plate_map.csv, measurements.csv, assay.json and results/candidates.csv.</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folds come from blank-corrected signal slopes. Confirmation folds use mean intended-product rates relative to the matched parent. Parent rates are 1.00, 1.04 and 0.98 µM/min. C03 rates are 1.30, 1.33 and 1.28. C11 rates are 1.02, 1.00 and 1.05. C11 loses most of its apparent screening gain in confirmation. This illustrates transfer between assays, not a reversal of the C03/C11 ordering, fitted kinetic constants or statistical significance. C03 still needs sequence, product-identity and secondary-property checks before becoming a new parent. Sources: toolkit/example/results/candidates.csv and toolkit/example/confirmation.csv.</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NADH-dependent (S)-specific alcohol dehydrogenase from Lactobacillus kefir DSM 20587 reduced acetophenone to (S)-phenylethanol in the cited characterization. The proposed screen monitors NADH loss at 340 nm and confirms product and stereoselectivity independently. Avoid conflating this enzyme with NADPH-dependent enzymes from the same species. In the P450 BM3 study, product-resolved capillary electrophoresis identified beneficial variants more effectively than cofactor depletion for the reported substrate. NADPH use can include uncoupling and side products. Appropriate chromatography or other product analytics may be shared rather than purchased.</a:t>
            </a:r>
          </a:p>
          <a:p xmlns:a="http://schemas.openxmlformats.org/drawingml/2006/main">
            <a:r>
              <a:t/>
            </a:r>
          </a:p>
          <a:p xmlns:a="http://schemas.openxmlformats.org/drawingml/2006/main">
            <a:r>
              <a:t>Sources</a:t>
            </a:r>
          </a:p>
          <a:p xmlns:a="http://schemas.openxmlformats.org/drawingml/2006/main">
            <a:r>
              <a:t>https://pubmed.ncbi.nlm.nih.gov/19082766/</a:t>
            </a:r>
          </a:p>
          <a:p xmlns:a="http://schemas.openxmlformats.org/drawingml/2006/main">
            <a:r>
              <a:t>https://www.nature.com/articles/s41598-019-52077-w</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reserves four primary plates, one repeat plate, 16 control wells per plate, two technical wells per clone and one preparation per primary clone. This provides 160 sample slots. An assumed 90% usable fraction gives 144 usable results. Confirmation budgets eight candidates with three independent preparations each. Grouped costs shown here: labor 10,800 NOK, primary/repeat culture and assay 5,440, confirmation and sequencing 2,600, library construction 1,500, reader access 450, contingency 2,079. Sum 22,869 NOK. Cost per usable primary result is 158.8125 NOK. These are assumed operating values, not current quotes or cost per improved enzyme. Source: Evozyme_Planners.xlsx, Round budget.</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original parent and individually identified lineages. A failed plate blocks ranking, and an extreme primary value only nominates a candidate. Independent preparation and intended-product confirmation establish whether the desired property persists. For mutations A and B, compare parent, A, B and AB under matched conditions. A plateau should trigger review of library representation, expression and assay relevance before increasing library size.</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closes the main presentation. The immediate output is a completed campaign brief, an accepted measurement method, demonstrated tracking and recovery, and a budget matched to real capacity. The existing handbook provides the details. Companion files include the budget/coverage/equipment workbook, campaign brief, plate map, clone register, assay record, round-review worksheet and runnable synthetic analysis. The following four slides support discussion rather than extend the core talk.</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Investigate one layer at a time and retain original measurements. The table gives distinguishing checks rather than a universal corrective protocol. Plate patterns may indicate evaporation, temperature or timing. Improvement that disappears after purification can reflect expression, host activity, recovery loss or dependence on the original context. Do not label one explanation as proven without evidence.</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Advanced formats are optional extensions. Colony and droplet approaches require a trustworthy link between signal and recoverable genotype. Cellular selections can enrich unrelated host or reporter adaptations. Cell-free expression needs matrix-compatible assays and DNA tracking. For model-guided libraries, evaluate prospective performance against a simple equal-budget baseline and prevent data leakage. Automation should improve useful results per unit effort after integration, repeats and maintenance.</a:t>
            </a:r>
          </a:p>
          <a:p xmlns:a="http://schemas.openxmlformats.org/drawingml/2006/main">
            <a:r>
              <a:t/>
            </a:r>
          </a:p>
          <a:p xmlns:a="http://schemas.openxmlformats.org/drawingml/2006/main">
            <a:r>
              <a:t>Sources</a:t>
            </a:r>
          </a:p>
          <a:p xmlns:a="http://schemas.openxmlformats.org/drawingml/2006/main">
            <a:r>
              <a:t>https://andrewgyork.github.io/relaxation_sensors/appendix.html</a:t>
            </a:r>
          </a:p>
          <a:p xmlns:a="http://schemas.openxmlformats.org/drawingml/2006/main">
            <a:r>
              <a:t>https://pmc.ncbi.nlm.nih.gov/articles/PMC2840095/</a:t>
            </a:r>
          </a:p>
          <a:p xmlns:a="http://schemas.openxmlformats.org/drawingml/2006/main">
            <a:r>
              <a:t>https://pmc.ncbi.nlm.nih.gov/articles/PMC6500146/</a:t>
            </a:r>
          </a:p>
          <a:p xmlns:a="http://schemas.openxmlformats.org/drawingml/2006/main">
            <a:r>
              <a:t>https://pmc.ncbi.nlm.nih.gov/articles/PMC6955331/</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handbook and toolkit are supplied in the Evozyme project. The first-screen program supports 96-well coordinates with one preparation per candidate per plate. It handles multiple plates independently. It does not estimate kinetic constants, active-enzyme concentrations or statistical significance. The workbook separates expected coverage from probability of complete sampling and separates operating costs from missing purchase quotes. All supplied screening and confirmation observations are synthetic. See toolkit/README.md for installation, commands, input columns and limitations.</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sources anchor the presentation. Sources for software, equipment features, advanced methods and the published correction to the machine-learning study appear in their relevant slide notes. The Evozyme campaign design, templates and example costs are proposed guidance. The demonstration measurements are synthetic.</a:t>
            </a:r>
          </a:p>
          <a:p xmlns:a="http://schemas.openxmlformats.org/drawingml/2006/main">
            <a:r>
              <a:t/>
            </a:r>
          </a:p>
          <a:p xmlns:a="http://schemas.openxmlformats.org/drawingml/2006/main">
            <a:r>
              <a:t>Sources</a:t>
            </a:r>
          </a:p>
          <a:p xmlns:a="http://schemas.openxmlformats.org/drawingml/2006/main">
            <a:r>
              <a:t>https://andrewgyork.github.io/relaxation_sensors/appendix.html</a:t>
            </a:r>
          </a:p>
          <a:p xmlns:a="http://schemas.openxmlformats.org/drawingml/2006/main">
            <a:r>
              <a:t>https://www.ncbi.nlm.nih.gov/books/NBK92007/</a:t>
            </a:r>
          </a:p>
          <a:p xmlns:a="http://schemas.openxmlformats.org/drawingml/2006/main">
            <a:r>
              <a:t>https://academic.oup.com/bioinformatics/article/21/15/3314/195665</a:t>
            </a:r>
          </a:p>
          <a:p xmlns:a="http://schemas.openxmlformats.org/drawingml/2006/main">
            <a:r>
              <a:t>https://pmc.ncbi.nlm.nih.gov/articles/PMC7139672/</a:t>
            </a:r>
          </a:p>
          <a:p xmlns:a="http://schemas.openxmlformats.org/drawingml/2006/main">
            <a:r>
              <a:t>https://pubmed.ncbi.nlm.nih.gov/19082766/</a:t>
            </a:r>
          </a:p>
          <a:p xmlns:a="http://schemas.openxmlformats.org/drawingml/2006/main">
            <a:r>
              <a:t>https://www.nature.com/articles/s41598-019-52077-w</a:t>
            </a:r>
          </a:p>
          <a:p xmlns:a="http://schemas.openxmlformats.org/drawingml/2006/main">
            <a:r>
              <a:t/>
            </a:r>
          </a:p>
          <a:p xmlns:a="http://schemas.openxmlformats.org/drawingml/2006/main">
            <a:r>
              <a:t>Handbook: Evozyme, edition 2,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b9b081dc0847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0775841aca4f1a" /><Relationship Type="http://schemas.openxmlformats.org/officeDocument/2006/relationships/slideLayout" Target="/ppt/slideLayouts/slideLayout1.xml" Id="R3d0b6145868c49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0b6145868c49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330c940c53462a" /><Relationship Type="http://schemas.openxmlformats.org/officeDocument/2006/relationships/notesSlide" Target="/ppt/notesSlides/notesSlide1.xml" Id="R05996ac696704b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b4efa79a1c4750" /><Relationship Type="http://schemas.openxmlformats.org/officeDocument/2006/relationships/notesSlide" Target="/ppt/notesSlides/notesSlide2.xml" Id="R5967a7a80ce849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f2e00725df4948" /><Relationship Type="http://schemas.openxmlformats.org/officeDocument/2006/relationships/notesSlide" Target="/ppt/notesSlides/notesSlide3.xml" Id="Rb64863615fef4d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025ccddb0c4ee2" /><Relationship Type="http://schemas.openxmlformats.org/officeDocument/2006/relationships/notesSlide" Target="/ppt/notesSlides/notesSlide4.xml" Id="Rad4c3f1be89f49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0674e7d68014366" /><Relationship Type="http://schemas.openxmlformats.org/officeDocument/2006/relationships/notesSlide" Target="/ppt/notesSlides/notesSlide5.xml" Id="R759bad7746874f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ef45a848c34066" /><Relationship Type="http://schemas.openxmlformats.org/officeDocument/2006/relationships/notesSlide" Target="/ppt/notesSlides/notesSlide6.xml" Id="R1d7a8cbb0efb44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7d4378700c41dd" /><Relationship Type="http://schemas.openxmlformats.org/officeDocument/2006/relationships/notesSlide" Target="/ppt/notesSlides/notesSlide7.xml" Id="R620d47f326af40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3a1bc691a414108" /><Relationship Type="http://schemas.openxmlformats.org/officeDocument/2006/relationships/notesSlide" Target="/ppt/notesSlides/notesSlide8.xml" Id="R18ac82f36f2848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0379a6cf024d08" /><Relationship Type="http://schemas.openxmlformats.org/officeDocument/2006/relationships/notesSlide" Target="/ppt/notesSlides/notesSlide9.xml" Id="R474390af31e041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dd72b8d5ca4eaa" /><Relationship Type="http://schemas.openxmlformats.org/officeDocument/2006/relationships/notesSlide" Target="/ppt/notesSlides/notesSlide10.xml" Id="Re53df5a0201b4a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d6443b3ef5454a" /><Relationship Type="http://schemas.openxmlformats.org/officeDocument/2006/relationships/notesSlide" Target="/ppt/notesSlides/notesSlide11.xml" Id="R1c26cd2bd4fc4a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0241fd6a374937" /><Relationship Type="http://schemas.openxmlformats.org/officeDocument/2006/relationships/notesSlide" Target="/ppt/notesSlides/notesSlide12.xml" Id="R689dd0dbf36646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273bcdca44646f5" /><Relationship Type="http://schemas.openxmlformats.org/officeDocument/2006/relationships/chart" Target="/ppt/slides/charts/chart1.xml" Id="R398f33d508a54168" /><Relationship Type="http://schemas.openxmlformats.org/officeDocument/2006/relationships/notesSlide" Target="/ppt/notesSlides/notesSlide13.xml" Id="R9451071dab2f42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9143b6595934497" /><Relationship Type="http://schemas.openxmlformats.org/officeDocument/2006/relationships/notesSlide" Target="/ppt/notesSlides/notesSlide14.xml" Id="R93840778aaf14c0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dde297c40b4814" /><Relationship Type="http://schemas.openxmlformats.org/officeDocument/2006/relationships/chart" Target="/ppt/slides/charts/chart2.xml" Id="Re9cfb4d6192f4d5b" /><Relationship Type="http://schemas.openxmlformats.org/officeDocument/2006/relationships/notesSlide" Target="/ppt/notesSlides/notesSlide15.xml" Id="R2b5723f0458d41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02c1421ff2247d5" /><Relationship Type="http://schemas.openxmlformats.org/officeDocument/2006/relationships/chart" Target="/ppt/slides/charts/chart3.xml" Id="R2954dc0a935a42ac" /><Relationship Type="http://schemas.openxmlformats.org/officeDocument/2006/relationships/notesSlide" Target="/ppt/notesSlides/notesSlide16.xml" Id="R5f5285564d6b4b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603705da094d4d" /><Relationship Type="http://schemas.openxmlformats.org/officeDocument/2006/relationships/notesSlide" Target="/ppt/notesSlides/notesSlide17.xml" Id="R2a3d3b59acc0449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6a501ace15a4a65" /><Relationship Type="http://schemas.openxmlformats.org/officeDocument/2006/relationships/chart" Target="/ppt/slides/charts/chart4.xml" Id="R6bb8936866cd4c02" /><Relationship Type="http://schemas.openxmlformats.org/officeDocument/2006/relationships/notesSlide" Target="/ppt/notesSlides/notesSlide18.xml" Id="R906b33faff4c474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197746c45de40ab" /><Relationship Type="http://schemas.openxmlformats.org/officeDocument/2006/relationships/notesSlide" Target="/ppt/notesSlides/notesSlide19.xml" Id="R9a537bcc6b8c45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15ea20ae7224e03" /><Relationship Type="http://schemas.openxmlformats.org/officeDocument/2006/relationships/notesSlide" Target="/ppt/notesSlides/notesSlide20.xml" Id="R4e89ef89c3a3489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43754ab54c0448c" /><Relationship Type="http://schemas.openxmlformats.org/officeDocument/2006/relationships/notesSlide" Target="/ppt/notesSlides/notesSlide21.xml" Id="R99d6b269a12448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f3807652e2a4fcc" /><Relationship Type="http://schemas.openxmlformats.org/officeDocument/2006/relationships/notesSlide" Target="/ppt/notesSlides/notesSlide22.xml" Id="R574a2b1b407148c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f3fb20478634abf" /><Relationship Type="http://schemas.openxmlformats.org/officeDocument/2006/relationships/notesSlide" Target="/ppt/notesSlides/notesSlide23.xml" Id="R9e15e22911304a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3b496ae23564025" /><Relationship Type="http://schemas.openxmlformats.org/officeDocument/2006/relationships/hyperlink" Target="https://andrewgyork.github.io/relaxation_sensors/appendix.html" TargetMode="External" Id="Rd2f28ee1681b4df0" /><Relationship Type="http://schemas.openxmlformats.org/officeDocument/2006/relationships/hyperlink" Target="https://www.ncbi.nlm.nih.gov/books/NBK92007/" TargetMode="External" Id="R79c62685a6a84c7b" /><Relationship Type="http://schemas.openxmlformats.org/officeDocument/2006/relationships/hyperlink" Target="https://academic.oup.com/bioinformatics/article/21/15/3314/195665" TargetMode="External" Id="R08d326f5115e4fef" /><Relationship Type="http://schemas.openxmlformats.org/officeDocument/2006/relationships/hyperlink" Target="https://pmc.ncbi.nlm.nih.gov/articles/PMC7139672/" TargetMode="External" Id="Recd81953377d40f9" /><Relationship Type="http://schemas.openxmlformats.org/officeDocument/2006/relationships/hyperlink" Target="https://pubmed.ncbi.nlm.nih.gov/19082766/" TargetMode="External" Id="Rafe2317c51254b26" /><Relationship Type="http://schemas.openxmlformats.org/officeDocument/2006/relationships/hyperlink" Target="https://www.nature.com/articles/s41598-019-52077-w" TargetMode="External" Id="R19a4f6750845416f" /><Relationship Type="http://schemas.openxmlformats.org/officeDocument/2006/relationships/notesSlide" Target="/ppt/notesSlides/notesSlide24.xml" Id="R225495c56d11437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Expected fraction</c:v>
          </c:tx>
          <c:spPr>
            <a:ln xmlns:a="http://schemas.openxmlformats.org/drawingml/2006/main" w="38100">
              <a:solidFill>
                <a:srgbClr val="127F7B"/>
              </a:solidFill>
            </a:ln>
          </c:spPr>
          <c:marker>
            <c:symbol val="none"/>
          </c:marker>
          <c:cat>
            <c:numRef>
              <c:f>'Chart Data'!$A$2:$A$12</c:f>
              <c:numCache>
                <c:formatCode>General</c:formatCode>
                <c:ptCount val="11"/>
                <c:pt idx="0">
                  <c:v>0</c:v>
                </c:pt>
                <c:pt idx="1">
                  <c:v>16</c:v>
                </c:pt>
                <c:pt idx="2">
                  <c:v>32</c:v>
                </c:pt>
                <c:pt idx="3">
                  <c:v>48</c:v>
                </c:pt>
                <c:pt idx="4">
                  <c:v>64</c:v>
                </c:pt>
                <c:pt idx="5">
                  <c:v>80</c:v>
                </c:pt>
                <c:pt idx="6">
                  <c:v>96</c:v>
                </c:pt>
                <c:pt idx="7">
                  <c:v>112</c:v>
                </c:pt>
                <c:pt idx="8">
                  <c:v>128</c:v>
                </c:pt>
                <c:pt idx="9">
                  <c:v>144</c:v>
                </c:pt>
                <c:pt idx="10">
                  <c:v>160</c:v>
                </c:pt>
              </c:numCache>
            </c:numRef>
          </c:cat>
          <c:val>
            <c:numRef>
              <c:f>'Chart Data'!$B$2:$B$12</c:f>
              <c:numCache>
                <c:formatCode>0%</c:formatCode>
                <c:ptCount val="11"/>
                <c:pt idx="0">
                  <c:v>0</c:v>
                </c:pt>
                <c:pt idx="1">
                  <c:v>0.5189054306</c:v>
                </c:pt>
                <c:pt idx="2">
                  <c:v>0.74464234</c:v>
                </c:pt>
                <c:pt idx="3">
                  <c:v>0.8566715667</c:v>
                </c:pt>
                <c:pt idx="4">
                  <c:v>0.9170553311</c:v>
                </c:pt>
                <c:pt idx="5">
                  <c:v>0.9511872164</c:v>
                </c:pt>
                <c:pt idx="6">
                  <c:v>0.9710028541</c:v>
                </c:pt>
                <c:pt idx="7">
                  <c:v>0.982681939</c:v>
                </c:pt>
                <c:pt idx="8">
                  <c:v>0.9896250756</c:v>
                </c:pt>
                <c:pt idx="9">
                  <c:v>0.9937733699</c:v>
                </c:pt>
                <c:pt idx="10">
                  <c:v>0.9962590645</c:v>
                </c:pt>
              </c:numCache>
            </c:numRef>
          </c:val>
          <c:smooth val="0"/>
        </c:ser>
        <c:ser>
          <c:idx val="1"/>
          <c:order val="1"/>
          <c:tx>
            <c:v>Completeness lower bound</c:v>
          </c:tx>
          <c:spPr>
            <a:ln xmlns:a="http://schemas.openxmlformats.org/drawingml/2006/main" w="38100">
              <a:solidFill>
                <a:srgbClr val="C96543"/>
              </a:solidFill>
            </a:ln>
          </c:spPr>
          <c:marker>
            <c:symbol val="none"/>
          </c:marker>
          <c:cat>
            <c:numRef>
              <c:f>'Chart Data'!$C$2:$C$12</c:f>
              <c:numCache>
                <c:formatCode>General</c:formatCode>
                <c:ptCount val="11"/>
                <c:pt idx="0">
                  <c:v>0</c:v>
                </c:pt>
                <c:pt idx="1">
                  <c:v>16</c:v>
                </c:pt>
                <c:pt idx="2">
                  <c:v>32</c:v>
                </c:pt>
                <c:pt idx="3">
                  <c:v>48</c:v>
                </c:pt>
                <c:pt idx="4">
                  <c:v>64</c:v>
                </c:pt>
                <c:pt idx="5">
                  <c:v>80</c:v>
                </c:pt>
                <c:pt idx="6">
                  <c:v>96</c:v>
                </c:pt>
                <c:pt idx="7">
                  <c:v>112</c:v>
                </c:pt>
                <c:pt idx="8">
                  <c:v>128</c:v>
                </c:pt>
                <c:pt idx="9">
                  <c:v>144</c:v>
                </c:pt>
                <c:pt idx="10">
                  <c:v>160</c:v>
                </c:pt>
              </c:numCache>
            </c:numRef>
          </c:cat>
          <c:val>
            <c:numRef>
              <c:f>'Chart Data'!$D$2:$D$12</c:f>
              <c:numCache>
                <c:formatCode>0%</c:formatCode>
                <c:ptCount val="11"/>
                <c:pt idx="0">
                  <c:v>0</c:v>
                </c:pt>
                <c:pt idx="1">
                  <c:v>0</c:v>
                </c:pt>
                <c:pt idx="2">
                  <c:v>0</c:v>
                </c:pt>
                <c:pt idx="3">
                  <c:v>0</c:v>
                </c:pt>
                <c:pt idx="4">
                  <c:v>0</c:v>
                </c:pt>
                <c:pt idx="5">
                  <c:v>0.02374432844</c:v>
                </c:pt>
                <c:pt idx="6">
                  <c:v>0.4200570821</c:v>
                </c:pt>
                <c:pt idx="7">
                  <c:v>0.6536387805</c:v>
                </c:pt>
                <c:pt idx="8">
                  <c:v>0.7925015126</c:v>
                </c:pt>
                <c:pt idx="9">
                  <c:v>0.8754673983</c:v>
                </c:pt>
                <c:pt idx="10">
                  <c:v>0.9251812891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25">
                    <a:solidFill>
                      <a:srgbClr val="556A73"/>
                    </a:solidFill>
                    <a:latin typeface="Arial"/>
                    <a:ea typeface="Arial"/>
                    <a:cs typeface="Arial"/>
                  </a:rPr>
                  <a:t>Independent draws</a:t>
                </a:r>
              </a:p>
            </c:rich>
          </c:tx>
          <c:overlay val="0"/>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title>
        <c:numFmt formatCode="General"/>
        <c:majorTickMark val="none"/>
        <c:minorTickMark val="none"/>
        <c:spPr>
          <a:ln xmlns:a="http://schemas.openxmlformats.org/drawingml/2006/main" w="9525">
            <a:solidFill>
              <a:srgbClr val="D7DFDC"/>
            </a:solidFill>
          </a:ln>
        </c:spPr>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DFDC"/>
              </a:solidFill>
              <a:prstDash val="solid"/>
            </a:ln>
          </c:spPr>
        </c:majorGridlines>
        <c:numFmt formatCode="0%"/>
        <c:majorTickMark val="none"/>
        <c:minorTickMark val="none"/>
        <c:spPr>
          <a:ln xmlns:a="http://schemas.openxmlformats.org/drawingml/2006/main" w="9525">
            <a:solidFill>
              <a:srgbClr val="D7DFDC"/>
            </a:solidFill>
          </a:ln>
        </c:spPr>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crossAx val="48650112"/>
        <c:crossBetween val="between"/>
        <c:majorUnit val="0.25"/>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56A73"/>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C03</c:v>
          </c:tx>
          <c:spPr>
            <a:ln xmlns:a="http://schemas.openxmlformats.org/drawingml/2006/main" w="38100">
              <a:solidFill>
                <a:srgbClr val="127F7B"/>
              </a:solidFill>
            </a:ln>
          </c:spPr>
          <c:marker>
            <c:symbol val="circle"/>
            <c:size val="6"/>
            <c:spPr>
              <a:solidFill xmlns:a="http://schemas.openxmlformats.org/drawingml/2006/main">
                <a:srgbClr val="127F7B"/>
              </a:solidFill>
            </c:spPr>
          </c:marker>
          <c:cat>
            <c:numRef>
              <c:f>'Chart Data'!$A$2:$A$8</c:f>
              <c:numCache>
                <c:formatCode>General</c:formatCode>
                <c:ptCount val="7"/>
                <c:pt idx="0">
                  <c:v>0.0</c:v>
                </c:pt>
                <c:pt idx="1">
                  <c:v>0.5</c:v>
                </c:pt>
                <c:pt idx="2">
                  <c:v>1.0</c:v>
                </c:pt>
                <c:pt idx="3">
                  <c:v>1.5</c:v>
                </c:pt>
                <c:pt idx="4">
                  <c:v>2.0</c:v>
                </c:pt>
                <c:pt idx="5">
                  <c:v>2.5</c:v>
                </c:pt>
                <c:pt idx="6">
                  <c:v>3.0</c:v>
                </c:pt>
              </c:numCache>
            </c:numRef>
          </c:cat>
          <c:val>
            <c:numRef>
              <c:f>'Chart Data'!$B$2:$B$8</c:f>
              <c:numCache>
                <c:formatCode>0.00</c:formatCode>
                <c:ptCount val="7"/>
                <c:pt idx="0">
                  <c:v>0.0805439</c:v>
                </c:pt>
                <c:pt idx="1">
                  <c:v>0.0957992</c:v>
                </c:pt>
                <c:pt idx="2">
                  <c:v>0.1108125</c:v>
                </c:pt>
                <c:pt idx="3">
                  <c:v>0.1260903</c:v>
                </c:pt>
                <c:pt idx="4">
                  <c:v>0.1411152</c:v>
                </c:pt>
                <c:pt idx="5">
                  <c:v>0.1562997</c:v>
                </c:pt>
                <c:pt idx="6">
                  <c:v>0.1712766</c:v>
                </c:pt>
              </c:numCache>
            </c:numRef>
          </c:val>
          <c:smooth val="0"/>
        </c:ser>
        <c:ser>
          <c:idx val="1"/>
          <c:order val="1"/>
          <c:tx>
            <c:v>C07</c:v>
          </c:tx>
          <c:spPr>
            <a:ln xmlns:a="http://schemas.openxmlformats.org/drawingml/2006/main" w="38100">
              <a:solidFill>
                <a:srgbClr val="C96543"/>
              </a:solidFill>
            </a:ln>
          </c:spPr>
          <c:marker>
            <c:symbol val="circle"/>
            <c:size val="6"/>
            <c:spPr>
              <a:solidFill xmlns:a="http://schemas.openxmlformats.org/drawingml/2006/main">
                <a:srgbClr val="C96543"/>
              </a:solidFill>
            </c:spPr>
          </c:marker>
          <c:cat>
            <c:numRef>
              <c:f>'Chart Data'!$C$2:$C$8</c:f>
              <c:numCache>
                <c:formatCode>General</c:formatCode>
                <c:ptCount val="7"/>
                <c:pt idx="0">
                  <c:v>0.0</c:v>
                </c:pt>
                <c:pt idx="1">
                  <c:v>0.5</c:v>
                </c:pt>
                <c:pt idx="2">
                  <c:v>1.0</c:v>
                </c:pt>
                <c:pt idx="3">
                  <c:v>1.5</c:v>
                </c:pt>
                <c:pt idx="4">
                  <c:v>2.0</c:v>
                </c:pt>
                <c:pt idx="5">
                  <c:v>2.5</c:v>
                </c:pt>
                <c:pt idx="6">
                  <c:v>3.0</c:v>
                </c:pt>
              </c:numCache>
            </c:numRef>
          </c:cat>
          <c:val>
            <c:numRef>
              <c:f>'Chart Data'!$D$2:$D$8</c:f>
              <c:numCache>
                <c:formatCode>0.00</c:formatCode>
                <c:ptCount val="7"/>
                <c:pt idx="0">
                  <c:v>0.0823431</c:v>
                </c:pt>
                <c:pt idx="1">
                  <c:v>0.1007077</c:v>
                </c:pt>
                <c:pt idx="2">
                  <c:v>0.1251638</c:v>
                </c:pt>
                <c:pt idx="3">
                  <c:v>0.1556443</c:v>
                </c:pt>
                <c:pt idx="4">
                  <c:v>0.1920377</c:v>
                </c:pt>
                <c:pt idx="5">
                  <c:v>0.234315</c:v>
                </c:pt>
                <c:pt idx="6">
                  <c:v>0.2826745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25">
                    <a:solidFill>
                      <a:srgbClr val="556A73"/>
                    </a:solidFill>
                    <a:latin typeface="Arial"/>
                    <a:ea typeface="Arial"/>
                    <a:cs typeface="Arial"/>
                  </a:rPr>
                  <a:t>Time (min)</a:t>
                </a:r>
              </a:p>
            </c:rich>
          </c:tx>
          <c:overlay val="0"/>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title>
        <c:numFmt formatCode="General"/>
        <c:majorTickMark val="none"/>
        <c:minorTickMark val="none"/>
        <c:spPr>
          <a:ln xmlns:a="http://schemas.openxmlformats.org/drawingml/2006/main" w="9525">
            <a:solidFill>
              <a:srgbClr val="D7DFDC"/>
            </a:solidFill>
          </a:ln>
        </c:spPr>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crossAx val="48672768"/>
      </c:catAx>
      <c:valAx>
        <c:axId val="48672768"/>
        <c:scaling>
          <c:orientation val="minMax"/>
          <c:max val="0.3"/>
          <c:min val="0"/>
        </c:scaling>
        <c:delete val="0"/>
        <c:axPos val="l"/>
        <c:majorGridlines>
          <c:spPr>
            <a:ln xmlns:a="http://schemas.openxmlformats.org/drawingml/2006/main" w="9525">
              <a:solidFill>
                <a:srgbClr val="D7DFDC"/>
              </a:solidFill>
              <a:prstDash val="solid"/>
            </a:ln>
          </c:spPr>
        </c:majorGridlines>
        <c:title>
          <c:tx>
            <c:rich>
              <a:bodyPr xmlns:a="http://schemas.openxmlformats.org/drawingml/2006/main"/>
              <a:lstStyle xmlns:a="http://schemas.openxmlformats.org/drawingml/2006/main"/>
              <a:p xmlns:a="http://schemas.openxmlformats.org/drawingml/2006/main">
                <a:r>
                  <a:rPr sz="1725">
                    <a:solidFill>
                      <a:srgbClr val="556A73"/>
                    </a:solidFill>
                    <a:latin typeface="Arial"/>
                    <a:ea typeface="Arial"/>
                    <a:cs typeface="Arial"/>
                  </a:rPr>
                  <a:t>Signal (AU)</a:t>
                </a:r>
              </a:p>
            </c:rich>
          </c:tx>
          <c:overlay val="0"/>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title>
        <c:numFmt formatCode="0.00"/>
        <c:majorTickMark val="none"/>
        <c:minorTickMark val="none"/>
        <c:spPr>
          <a:ln xmlns:a="http://schemas.openxmlformats.org/drawingml/2006/main" w="9525">
            <a:solidFill>
              <a:srgbClr val="D7DFDC"/>
            </a:solidFill>
          </a:ln>
        </c:spPr>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crossAx val="48650112"/>
        <c:crossBetween val="between"/>
        <c:majorUnit val="0.1"/>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Primary screen</c:v>
          </c:tx>
          <c:spPr>
            <a:solidFill xmlns:a="http://schemas.openxmlformats.org/drawingml/2006/main">
              <a:srgbClr val="4276A5"/>
            </a:solidFill>
          </c:spPr>
          <c:cat>
            <c:strRef>
              <c:f>'Chart Data'!$A$2:$A$3</c:f>
              <c:strCache>
                <c:ptCount val="2"/>
                <c:pt idx="0">
                  <c:v>C03</c:v>
                </c:pt>
                <c:pt idx="1">
                  <c:v>C11</c:v>
                </c:pt>
              </c:strCache>
            </c:strRef>
          </c:cat>
          <c:val>
            <c:numRef>
              <c:f>'Chart Data'!$B$2:$B$3</c:f>
              <c:numCache>
                <c:formatCode>0.000</c:formatCode>
                <c:ptCount val="2"/>
                <c:pt idx="0">
                  <c:v>1.463154399</c:v>
                </c:pt>
                <c:pt idx="1">
                  <c:v>1.358891099</c:v>
                </c:pt>
              </c:numCache>
            </c:numRef>
          </c:val>
        </c:ser>
        <c:ser>
          <c:idx val="1"/>
          <c:order val="1"/>
          <c:tx>
            <c:v>Product confirmation</c:v>
          </c:tx>
          <c:spPr>
            <a:solidFill xmlns:a="http://schemas.openxmlformats.org/drawingml/2006/main">
              <a:srgbClr val="127F7B"/>
            </a:solidFill>
          </c:spPr>
          <c:cat>
            <c:strRef>
              <c:f>'Chart Data'!$C$2:$C$3</c:f>
              <c:strCache>
                <c:ptCount val="2"/>
                <c:pt idx="0">
                  <c:v>C03</c:v>
                </c:pt>
                <c:pt idx="1">
                  <c:v>C11</c:v>
                </c:pt>
              </c:strCache>
            </c:strRef>
          </c:cat>
          <c:val>
            <c:numRef>
              <c:f>'Chart Data'!$D$2:$D$3</c:f>
              <c:numCache>
                <c:formatCode>0.000</c:formatCode>
                <c:ptCount val="2"/>
                <c:pt idx="0">
                  <c:v>1.294701987</c:v>
                </c:pt>
                <c:pt idx="1">
                  <c:v>1.016556291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32C39"/>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DC"/>
            </a:solidFill>
          </a:ln>
        </c:spPr>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crossAx val="48672768"/>
      </c:catAx>
      <c:valAx>
        <c:axId val="48672768"/>
        <c:scaling>
          <c:orientation val="minMax"/>
          <c:max val="1.8"/>
          <c:min val="0"/>
        </c:scaling>
        <c:delete val="0"/>
        <c:axPos val="l"/>
        <c:majorGridlines>
          <c:spPr>
            <a:ln xmlns:a="http://schemas.openxmlformats.org/drawingml/2006/main" w="9525">
              <a:solidFill>
                <a:srgbClr val="D7DFDC"/>
              </a:solidFill>
              <a:prstDash val="solid"/>
            </a:ln>
          </c:spPr>
        </c:majorGridlines>
        <c:title>
          <c:tx>
            <c:rich>
              <a:bodyPr xmlns:a="http://schemas.openxmlformats.org/drawingml/2006/main"/>
              <a:lstStyle xmlns:a="http://schemas.openxmlformats.org/drawingml/2006/main"/>
              <a:p xmlns:a="http://schemas.openxmlformats.org/drawingml/2006/main">
                <a:r>
                  <a:rPr sz="1725">
                    <a:solidFill>
                      <a:srgbClr val="556A73"/>
                    </a:solidFill>
                    <a:latin typeface="Arial"/>
                    <a:ea typeface="Arial"/>
                    <a:cs typeface="Arial"/>
                  </a:rPr>
                  <a:t>Fold vs matched parent</a:t>
                </a:r>
              </a:p>
            </c:rich>
          </c:tx>
          <c:overlay val="0"/>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title>
        <c:numFmt formatCode="0.0"/>
        <c:majorTickMark val="none"/>
        <c:minorTickMark val="none"/>
        <c:spPr>
          <a:ln xmlns:a="http://schemas.openxmlformats.org/drawingml/2006/main" w="9525">
            <a:solidFill>
              <a:srgbClr val="D7DFDC"/>
            </a:solidFill>
          </a:ln>
        </c:spPr>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crossAx val="48650112"/>
        <c:crossBetween val="between"/>
        <c:majorUnit val="0.5"/>
      </c:valAx>
      <c:spPr>
        <a:solidFill xmlns:a="http://schemas.openxmlformats.org/drawingml/2006/main">
          <a:srgbClr val="F7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56A73"/>
              </a:solidFill>
              <a:latin typeface="Arial"/>
              <a:ea typeface="Arial"/>
              <a:cs typeface="Arial"/>
            </a:defRPr>
          </a:pPr>
        </a:p>
      </c:txPr>
    </c:legend>
    <c:plotVisOnly val="1"/>
  </c:chart>
  <c:spPr>
    <a:solidFill xmlns:a="http://schemas.openxmlformats.org/drawingml/2006/main">
      <a:srgbClr val="F7F7F2"/>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Cost</c:v>
          </c:tx>
          <c:spPr>
            <a:solidFill xmlns:a="http://schemas.openxmlformats.org/drawingml/2006/main">
              <a:srgbClr val="127F7B"/>
            </a:solidFill>
          </c:spPr>
          <c:cat>
            <c:strRef>
              <c:f>'Chart Data'!$A$2:$A$7</c:f>
              <c:strCache>
                <c:ptCount val="6"/>
                <c:pt idx="0">
                  <c:v>Reader access</c:v>
                </c:pt>
                <c:pt idx="1">
                  <c:v>Library construction</c:v>
                </c:pt>
                <c:pt idx="2">
                  <c:v>Contingency</c:v>
                </c:pt>
                <c:pt idx="3">
                  <c:v>Confirmation + sequence</c:v>
                </c:pt>
                <c:pt idx="4">
                  <c:v>Preparation + assays</c:v>
                </c:pt>
                <c:pt idx="5">
                  <c:v>Labor</c:v>
                </c:pt>
              </c:strCache>
            </c:strRef>
          </c:cat>
          <c:val>
            <c:numRef>
              <c:f>'Chart Data'!$B$2:$B$7</c:f>
              <c:numCache>
                <c:formatCode>#,##0</c:formatCode>
                <c:ptCount val="6"/>
                <c:pt idx="0">
                  <c:v>450</c:v>
                </c:pt>
                <c:pt idx="1">
                  <c:v>1500</c:v>
                </c:pt>
                <c:pt idx="2">
                  <c:v>2079</c:v>
                </c:pt>
                <c:pt idx="3">
                  <c:v>2600</c:v>
                </c:pt>
                <c:pt idx="4">
                  <c:v>5440</c:v>
                </c:pt>
                <c:pt idx="5">
                  <c:v>10800</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32C39"/>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7DFDC"/>
              </a:solidFill>
              <a:prstDash val="solid"/>
            </a:ln>
          </c:spPr>
        </c:majorGridlines>
        <c:title>
          <c:tx>
            <c:rich>
              <a:bodyPr xmlns:a="http://schemas.openxmlformats.org/drawingml/2006/main"/>
              <a:lstStyle xmlns:a="http://schemas.openxmlformats.org/drawingml/2006/main"/>
              <a:p xmlns:a="http://schemas.openxmlformats.org/drawingml/2006/main">
                <a:r>
                  <a:rPr sz="1725">
                    <a:solidFill>
                      <a:srgbClr val="556A73"/>
                    </a:solidFill>
                    <a:latin typeface="Arial"/>
                    <a:ea typeface="Arial"/>
                    <a:cs typeface="Arial"/>
                  </a:rPr>
                  <a:t>NOK</a:t>
                </a:r>
              </a:p>
            </c:rich>
          </c:tx>
          <c:overlay val="0"/>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title>
        <c:numFmt formatCode="#,##0"/>
        <c:majorTickMark val="none"/>
        <c:minorTickMark val="none"/>
        <c:spPr>
          <a:ln xmlns:a="http://schemas.openxmlformats.org/drawingml/2006/main" w="9525">
            <a:solidFill>
              <a:srgbClr val="D7DFDC"/>
            </a:solidFill>
          </a:ln>
        </c:spPr>
        <c:txPr>
          <a:bodyPr xmlns:a="http://schemas.openxmlformats.org/drawingml/2006/main" anchorCtr="1"/>
          <a:lstStyle xmlns:a="http://schemas.openxmlformats.org/drawingml/2006/main"/>
          <a:p xmlns:a="http://schemas.openxmlformats.org/drawingml/2006/main">
            <a:pPr>
              <a:defRPr sz="1725">
                <a:solidFill>
                  <a:srgbClr val="556A73"/>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7DFDC"/>
            </a:solidFill>
          </a:ln>
        </c:spPr>
        <c:txPr>
          <a:bodyPr xmlns:a="http://schemas.openxmlformats.org/drawingml/2006/main" anchorCtr="1"/>
          <a:lstStyle xmlns:a="http://schemas.openxmlformats.org/drawingml/2006/main"/>
          <a:p xmlns:a="http://schemas.openxmlformats.org/drawingml/2006/main">
            <a:pPr>
              <a:defRPr sz="1650">
                <a:solidFill>
                  <a:srgbClr val="556A73"/>
                </a:solidFill>
                <a:latin typeface="Arial"/>
                <a:ea typeface="Arial"/>
                <a:cs typeface="Arial"/>
              </a:defRPr>
            </a:pPr>
          </a:p>
        </c:txPr>
        <c:crossAx val="48650112"/>
        <c:crossBetween val="between"/>
      </c:valAx>
      <c:spPr>
        <a:solidFill xmlns:a="http://schemas.openxmlformats.org/drawingml/2006/main">
          <a:srgbClr val="F7F7F2"/>
        </a:solidFill>
      </c:spPr>
    </c:plotArea>
    <c:plotVisOnly val="1"/>
  </c:chart>
  <c:spPr>
    <a:solidFill xmlns:a="http://schemas.openxmlformats.org/drawingml/2006/main">
      <a:srgbClr val="F7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C39"/>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886C47A-BB47-4709-86DD-4CA961F8EAA8}"/>
              </a:ext>
            </a:extLst>
          </p:cNvPr>
          <p:cNvSpPr>
            <a:spLocks xmlns:a="http://schemas.openxmlformats.org/drawingml/2006/main" noGrp="1"/>
          </p:cNvSpPr>
          <p:nvPr/>
        </p:nvSpPr>
        <p:spPr>
          <a:xfrm xmlns:a="http://schemas.openxmlformats.org/drawingml/2006/main">
            <a:off x="666750" y="1638300"/>
            <a:ext cx="106680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Directed evolution</a:t>
            </a:r>
          </a:p>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of enzymes</a:t>
            </a:r>
          </a:p>
        </p:txBody>
      </p:sp>
      <p:sp>
        <p:nvSpPr>
          <p:cNvPr id="2" name="text-1">
            <a:extLst xmlns:a="http://schemas.openxmlformats.org/drawingml/2006/main">
              <a:ext uri="{FF2B5EF4-FFF2-40B4-BE49-F238E27FC236}">
                <a16:creationId xmlns:a16="http://schemas.microsoft.com/office/drawing/2014/main" id="{A9C2C6C8-01FA-41FA-836B-ACBBF6745DCB}"/>
              </a:ext>
            </a:extLst>
          </p:cNvPr>
          <p:cNvSpPr>
            <a:spLocks xmlns:a="http://schemas.openxmlformats.org/drawingml/2006/main" noGrp="1"/>
          </p:cNvSpPr>
          <p:nvPr/>
        </p:nvSpPr>
        <p:spPr>
          <a:xfrm xmlns:a="http://schemas.openxmlformats.org/drawingml/2006/main">
            <a:off x="704850" y="397192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8DD8CD"/>
                </a:solidFill>
                <a:latin typeface="Arial"/>
                <a:ea typeface="Arial"/>
                <a:cs typeface="Arial"/>
              </a:defRPr>
            </a:pPr>
            <a:r>
              <a:rPr sz="2550" b="0">
                <a:solidFill>
                  <a:srgbClr val="8DD8CD"/>
                </a:solidFill>
                <a:latin typeface="Arial"/>
                <a:ea typeface="Arial"/>
                <a:cs typeface="Arial"/>
              </a:rPr>
              <a:t>A cost-efficient laboratory workflow</a:t>
            </a:r>
          </a:p>
        </p:txBody>
      </p:sp>
      <p:sp>
        <p:nvSpPr>
          <p:cNvPr id="3" name="text-2">
            <a:extLst xmlns:a="http://schemas.openxmlformats.org/drawingml/2006/main">
              <a:ext uri="{FF2B5EF4-FFF2-40B4-BE49-F238E27FC236}">
                <a16:creationId xmlns:a16="http://schemas.microsoft.com/office/drawing/2014/main" id="{DA32F3AC-E11F-4646-9480-24FC27C4BC9D}"/>
              </a:ext>
            </a:extLst>
          </p:cNvPr>
          <p:cNvSpPr>
            <a:spLocks xmlns:a="http://schemas.openxmlformats.org/drawingml/2006/main" noGrp="1"/>
          </p:cNvSpPr>
          <p:nvPr/>
        </p:nvSpPr>
        <p:spPr>
          <a:xfrm xmlns:a="http://schemas.openxmlformats.org/drawingml/2006/main">
            <a:off x="704850" y="5743575"/>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Evozyme</a:t>
            </a:r>
          </a:p>
        </p:txBody>
      </p:sp>
      <p:sp>
        <p:nvSpPr>
          <p:cNvPr id="4" name="text-3">
            <a:extLst xmlns:a="http://schemas.openxmlformats.org/drawingml/2006/main">
              <a:ext uri="{FF2B5EF4-FFF2-40B4-BE49-F238E27FC236}">
                <a16:creationId xmlns:a16="http://schemas.microsoft.com/office/drawing/2014/main" id="{92395781-B80A-4DB3-835B-C2DC62BB33FB}"/>
              </a:ext>
            </a:extLst>
          </p:cNvPr>
          <p:cNvSpPr>
            <a:spLocks xmlns:a="http://schemas.openxmlformats.org/drawingml/2006/main" noGrp="1"/>
          </p:cNvSpPr>
          <p:nvPr/>
        </p:nvSpPr>
        <p:spPr>
          <a:xfrm xmlns:a="http://schemas.openxmlformats.org/drawingml/2006/main">
            <a:off x="8858250" y="58102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AEC5C8"/>
                </a:solidFill>
                <a:latin typeface="Arial"/>
                <a:ea typeface="Arial"/>
                <a:cs typeface="Arial"/>
              </a:defRPr>
            </a:pPr>
            <a:r>
              <a:rPr sz="1500" b="0">
                <a:solidFill>
                  <a:srgbClr val="AEC5C8"/>
                </a:solidFill>
                <a:latin typeface="Arial"/>
                <a:ea typeface="Arial"/>
                <a:cs typeface="Arial"/>
              </a:rPr>
              <a:t>9 September 2026</a:t>
            </a:r>
          </a:p>
        </p:txBody>
      </p:sp>
    </p:spTree>
    <p:extLst>
      <p:ext uri="{BB962C8B-B14F-4D97-AF65-F5344CB8AC3E}">
        <p14:creationId xmlns:p14="http://schemas.microsoft.com/office/powerpoint/2010/main" val="975896848"/>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8B3315F-0B0A-4BC0-B9B4-04A5871C3737}"/>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A practical starting platform</a:t>
            </a:r>
          </a:p>
        </p:txBody>
      </p:sp>
      <p:sp>
        <p:nvSpPr>
          <p:cNvPr id="2" name="text-1">
            <a:extLst xmlns:a="http://schemas.openxmlformats.org/drawingml/2006/main">
              <a:ext uri="{FF2B5EF4-FFF2-40B4-BE49-F238E27FC236}">
                <a16:creationId xmlns:a16="http://schemas.microsoft.com/office/drawing/2014/main" id="{65188348-A71C-4014-B079-B63D8C57990E}"/>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B8C1E726-5052-4793-932A-E0C8BE7C5094}"/>
              </a:ext>
            </a:extLst>
          </p:cNvPr>
          <p:cNvSpPr>
            <a:spLocks xmlns:a="http://schemas.openxmlformats.org/drawingml/2006/main" noGrp="1"/>
          </p:cNvSpPr>
          <p:nvPr/>
        </p:nvSpPr>
        <p:spPr>
          <a:xfrm xmlns:a="http://schemas.openxmlformats.org/drawingml/2006/main">
            <a:off x="609600" y="1562100"/>
            <a:ext cx="1071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27F7B"/>
                </a:solidFill>
                <a:latin typeface="Arial"/>
                <a:ea typeface="Arial"/>
                <a:cs typeface="Arial"/>
              </a:defRPr>
            </a:pPr>
            <a:r>
              <a:rPr sz="3000" b="1">
                <a:solidFill>
                  <a:srgbClr val="127F7B"/>
                </a:solidFill>
                <a:latin typeface="Arial"/>
                <a:ea typeface="Arial"/>
                <a:cs typeface="Arial"/>
              </a:rPr>
              <a:t>Manual handling and shared access can support the first campaign</a:t>
            </a:r>
          </a:p>
        </p:txBody>
      </p:sp>
      <p:sp>
        <p:nvSpPr>
          <p:cNvPr id="4" name="text-3">
            <a:extLst xmlns:a="http://schemas.openxmlformats.org/drawingml/2006/main">
              <a:ext uri="{FF2B5EF4-FFF2-40B4-BE49-F238E27FC236}">
                <a16:creationId xmlns:a16="http://schemas.microsoft.com/office/drawing/2014/main" id="{DDA59A09-49B5-4AAE-B01E-27941A52FD94}"/>
              </a:ext>
            </a:extLst>
          </p:cNvPr>
          <p:cNvSpPr>
            <a:spLocks xmlns:a="http://schemas.openxmlformats.org/drawingml/2006/main" noGrp="1"/>
          </p:cNvSpPr>
          <p:nvPr/>
        </p:nvSpPr>
        <p:spPr>
          <a:xfrm xmlns:a="http://schemas.openxmlformats.org/drawingml/2006/main">
            <a:off x="609600" y="3171825"/>
            <a:ext cx="2190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rPr>
              <a:t>Preparation</a:t>
            </a:r>
          </a:p>
        </p:txBody>
      </p:sp>
      <p:sp>
        <p:nvSpPr>
          <p:cNvPr id="5" name="text-4">
            <a:extLst xmlns:a="http://schemas.openxmlformats.org/drawingml/2006/main">
              <a:ext uri="{FF2B5EF4-FFF2-40B4-BE49-F238E27FC236}">
                <a16:creationId xmlns:a16="http://schemas.microsoft.com/office/drawing/2014/main" id="{C87374A0-5AF2-43B4-BED3-6856B27EF056}"/>
              </a:ext>
            </a:extLst>
          </p:cNvPr>
          <p:cNvSpPr>
            <a:spLocks xmlns:a="http://schemas.openxmlformats.org/drawingml/2006/main" noGrp="1"/>
          </p:cNvSpPr>
          <p:nvPr/>
        </p:nvSpPr>
        <p:spPr>
          <a:xfrm xmlns:a="http://schemas.openxmlformats.org/drawingml/2006/main">
            <a:off x="3009900" y="3171825"/>
            <a:ext cx="857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32C39"/>
                </a:solidFill>
                <a:latin typeface="Arial"/>
                <a:ea typeface="Arial"/>
                <a:cs typeface="Arial"/>
              </a:defRPr>
            </a:pPr>
            <a:r>
              <a:rPr sz="1950" b="0">
                <a:solidFill>
                  <a:srgbClr val="132C39"/>
                </a:solidFill>
                <a:latin typeface="Arial"/>
                <a:ea typeface="Arial"/>
                <a:cs typeface="Arial"/>
              </a:rPr>
              <a:t>Active parent, reproducible sample preparation and multichannel pipetting.</a:t>
            </a:r>
          </a:p>
        </p:txBody>
      </p:sp>
      <p:sp>
        <p:nvSpPr>
          <p:cNvPr id="6" name="text-5">
            <a:extLst xmlns:a="http://schemas.openxmlformats.org/drawingml/2006/main">
              <a:ext uri="{FF2B5EF4-FFF2-40B4-BE49-F238E27FC236}">
                <a16:creationId xmlns:a16="http://schemas.microsoft.com/office/drawing/2014/main" id="{454A2B7B-E20A-4BB0-8AF5-E43FA5A77BD0}"/>
              </a:ext>
            </a:extLst>
          </p:cNvPr>
          <p:cNvSpPr>
            <a:spLocks xmlns:a="http://schemas.openxmlformats.org/drawingml/2006/main" noGrp="1"/>
          </p:cNvSpPr>
          <p:nvPr/>
        </p:nvSpPr>
        <p:spPr>
          <a:xfrm xmlns:a="http://schemas.openxmlformats.org/drawingml/2006/main">
            <a:off x="609600" y="4124325"/>
            <a:ext cx="2190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rPr>
              <a:t>Measurement</a:t>
            </a:r>
          </a:p>
        </p:txBody>
      </p:sp>
      <p:sp>
        <p:nvSpPr>
          <p:cNvPr id="7" name="text-6">
            <a:extLst xmlns:a="http://schemas.openxmlformats.org/drawingml/2006/main">
              <a:ext uri="{FF2B5EF4-FFF2-40B4-BE49-F238E27FC236}">
                <a16:creationId xmlns:a16="http://schemas.microsoft.com/office/drawing/2014/main" id="{3CB28A59-556F-4AEF-8736-128CCB937031}"/>
              </a:ext>
            </a:extLst>
          </p:cNvPr>
          <p:cNvSpPr>
            <a:spLocks xmlns:a="http://schemas.openxmlformats.org/drawingml/2006/main" noGrp="1"/>
          </p:cNvSpPr>
          <p:nvPr/>
        </p:nvSpPr>
        <p:spPr>
          <a:xfrm xmlns:a="http://schemas.openxmlformats.org/drawingml/2006/main">
            <a:off x="3009900" y="4124325"/>
            <a:ext cx="857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32C39"/>
                </a:solidFill>
                <a:latin typeface="Arial"/>
                <a:ea typeface="Arial"/>
                <a:cs typeface="Arial"/>
              </a:defRPr>
            </a:pPr>
            <a:r>
              <a:rPr sz="1950" b="0">
                <a:solidFill>
                  <a:srgbClr val="132C39"/>
                </a:solidFill>
                <a:latin typeface="Arial"/>
                <a:ea typeface="Arial"/>
                <a:cs typeface="Arial"/>
              </a:rPr>
              <a:t>A compatible plate reader plus access to intended-product confirmation.</a:t>
            </a:r>
          </a:p>
        </p:txBody>
      </p:sp>
      <p:sp>
        <p:nvSpPr>
          <p:cNvPr id="8" name="text-7">
            <a:extLst xmlns:a="http://schemas.openxmlformats.org/drawingml/2006/main">
              <a:ext uri="{FF2B5EF4-FFF2-40B4-BE49-F238E27FC236}">
                <a16:creationId xmlns:a16="http://schemas.microsoft.com/office/drawing/2014/main" id="{0FC4D024-6489-4106-9EFC-2C7EFCBAB130}"/>
              </a:ext>
            </a:extLst>
          </p:cNvPr>
          <p:cNvSpPr>
            <a:spLocks xmlns:a="http://schemas.openxmlformats.org/drawingml/2006/main" noGrp="1"/>
          </p:cNvSpPr>
          <p:nvPr/>
        </p:nvSpPr>
        <p:spPr>
          <a:xfrm xmlns:a="http://schemas.openxmlformats.org/drawingml/2006/main">
            <a:off x="609600" y="5076825"/>
            <a:ext cx="2190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rPr>
              <a:t>Continuity</a:t>
            </a:r>
          </a:p>
        </p:txBody>
      </p:sp>
      <p:sp>
        <p:nvSpPr>
          <p:cNvPr id="9" name="text-8">
            <a:extLst xmlns:a="http://schemas.openxmlformats.org/drawingml/2006/main">
              <a:ext uri="{FF2B5EF4-FFF2-40B4-BE49-F238E27FC236}">
                <a16:creationId xmlns:a16="http://schemas.microsoft.com/office/drawing/2014/main" id="{1473D430-A280-490D-A020-643B5B495A5D}"/>
              </a:ext>
            </a:extLst>
          </p:cNvPr>
          <p:cNvSpPr>
            <a:spLocks xmlns:a="http://schemas.openxmlformats.org/drawingml/2006/main" noGrp="1"/>
          </p:cNvSpPr>
          <p:nvPr/>
        </p:nvSpPr>
        <p:spPr>
          <a:xfrm xmlns:a="http://schemas.openxmlformats.org/drawingml/2006/main">
            <a:off x="3009900" y="5076825"/>
            <a:ext cx="857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32C39"/>
                </a:solidFill>
                <a:latin typeface="Arial"/>
                <a:ea typeface="Arial"/>
                <a:cs typeface="Arial"/>
              </a:defRPr>
            </a:pPr>
            <a:r>
              <a:rPr sz="1950" b="0">
                <a:solidFill>
                  <a:srgbClr val="132C39"/>
                </a:solidFill>
                <a:latin typeface="Arial"/>
                <a:ea typeface="Arial"/>
                <a:cs typeface="Arial"/>
              </a:rPr>
              <a:t>Recoverable clones linked to sequences, plate maps and raw measurements.</a:t>
            </a:r>
          </a:p>
        </p:txBody>
      </p:sp>
    </p:spTree>
    <p:extLst>
      <p:ext uri="{BB962C8B-B14F-4D97-AF65-F5344CB8AC3E}">
        <p14:creationId xmlns:p14="http://schemas.microsoft.com/office/powerpoint/2010/main" val="856531231"/>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1749F0F-B98C-4485-8F89-A121E1B36B8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Lessons from York’s sensor evolution work</a:t>
            </a:r>
          </a:p>
        </p:txBody>
      </p:sp>
      <p:sp>
        <p:nvSpPr>
          <p:cNvPr id="2" name="text-1">
            <a:extLst xmlns:a="http://schemas.openxmlformats.org/drawingml/2006/main">
              <a:ext uri="{FF2B5EF4-FFF2-40B4-BE49-F238E27FC236}">
                <a16:creationId xmlns:a16="http://schemas.microsoft.com/office/drawing/2014/main" id="{529A2BBA-21CC-4285-8BFA-F88FC787C4FB}"/>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03</a:t>
            </a:r>
          </a:p>
        </p:txBody>
      </p:sp>
      <p:sp>
        <p:nvSpPr>
          <p:cNvPr id="3" name="text-2">
            <a:extLst xmlns:a="http://schemas.openxmlformats.org/drawingml/2006/main">
              <a:ext uri="{FF2B5EF4-FFF2-40B4-BE49-F238E27FC236}">
                <a16:creationId xmlns:a16="http://schemas.microsoft.com/office/drawing/2014/main" id="{22BEC0E5-BEF9-49A6-A5AF-89C931FD356C}"/>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Published sensor work. Enzyme applications require a suitable assay and recovery method.</a:t>
            </a:r>
          </a:p>
        </p:txBody>
      </p:sp>
      <p:graphicFrame>
        <p:nvGraphicFramePr>
          <p:cNvPr id="8" name=""/>
          <p:cNvGraphicFramePr/>
          <p:nvPr/>
        </p:nvGraphicFramePr>
        <p:xfrm>
          <a:off xmlns:a="http://schemas.openxmlformats.org/drawingml/2006/main" x="609600" y="1590675"/>
          <a:ext xmlns:a="http://schemas.openxmlformats.org/drawingml/2006/main" cx="10972800" cy="4114800"/>
        </p:xfrm>
        <a:graphic xmlns:a="http://schemas.openxmlformats.org/drawingml/2006/main">
          <a:graphicData uri="http://schemas.openxmlformats.org/drawingml/2006/table">
            <a:tbl>
              <a:tblPr firstRow="1" bandRow="0"/>
              <a:tblGrid>
                <a:gridCol w="4953000"/>
                <a:gridCol w="6019800"/>
              </a:tblGrid>
              <a:tr h="552450">
                <a:tc>
                  <a:txBody>
                    <a:bodyPr wrap="square">
                      <a:noAutofit/>
                    </a:bodyPr>
                    <a:lstStyle/>
                    <a:p>
                      <a:r>
                        <a:rPr sz="1875" b="1">
                          <a:solidFill>
                            <a:srgbClr val="FFFFFF"/>
                          </a:solidFill>
                          <a:latin typeface="Arial"/>
                          <a:ea typeface="Arial"/>
                          <a:cs typeface="Arial"/>
                        </a:rPr>
                        <a:t>Published approach</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Lesson for an enzyme campaign</a:t>
                      </a:r>
                    </a:p>
                  </a:txBody>
                  <a:tcPr marL="133350" marR="133350" marT="57150" marB="57150" anchor="ctr">
                    <a:solidFill>
                      <a:srgbClr val="132C39"/>
                    </a:solidFill>
                  </a:tcPr>
                </a:tc>
              </a:tr>
              <a:tr h="890588">
                <a:tc>
                  <a:txBody>
                    <a:bodyPr wrap="square">
                      <a:noAutofit/>
                    </a:bodyPr>
                    <a:lstStyle/>
                    <a:p>
                      <a:r>
                        <a:rPr sz="1875" b="0">
                          <a:solidFill>
                            <a:srgbClr val="132C39"/>
                          </a:solidFill>
                          <a:latin typeface="Arial"/>
                          <a:ea typeface="Arial"/>
                          <a:cs typeface="Arial"/>
                        </a:rPr>
                        <a:t>Whole-plate imaging with custom</a:t>
                      </a:r>
                    </a:p>
                    <a:p>
                      <a:r>
                        <a:rPr sz="1875" b="0">
                          <a:solidFill>
                            <a:srgbClr val="132C39"/>
                          </a:solidFill>
                          <a:latin typeface="Arial"/>
                          <a:ea typeface="Arial"/>
                          <a:cs typeface="Arial"/>
                        </a:rPr>
                        <a:t>optics and Python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Choose detection around the assay and</a:t>
                      </a:r>
                    </a:p>
                    <a:p>
                      <a:r>
                        <a:rPr sz="1875" b="0">
                          <a:solidFill>
                            <a:srgbClr val="132C39"/>
                          </a:solidFill>
                          <a:latin typeface="Arial"/>
                          <a:ea typeface="Arial"/>
                          <a:cs typeface="Arial"/>
                        </a:rPr>
                        <a:t>required spatial resolution.</a:t>
                      </a:r>
                    </a:p>
                  </a:txBody>
                  <a:tcPr marL="133350" marR="133350" marT="57150" marB="57150" anchor="ctr">
                    <a:solidFill>
                      <a:srgbClr val="F7F7F2"/>
                    </a:solidFill>
                  </a:tcPr>
                </a:tc>
              </a:tr>
              <a:tr h="890588">
                <a:tc>
                  <a:txBody>
                    <a:bodyPr wrap="square">
                      <a:noAutofit/>
                    </a:bodyPr>
                    <a:lstStyle/>
                    <a:p>
                      <a:r>
                        <a:rPr sz="1875" b="0">
                          <a:solidFill>
                            <a:srgbClr val="132C39"/>
                          </a:solidFill>
                          <a:latin typeface="Arial"/>
                          <a:ea typeface="Arial"/>
                          <a:cs typeface="Arial"/>
                        </a:rPr>
                        <a:t>Single-residue exploration matched</a:t>
                      </a:r>
                    </a:p>
                    <a:p>
                      <a:r>
                        <a:rPr sz="1875" b="0">
                          <a:solidFill>
                            <a:srgbClr val="132C39"/>
                          </a:solidFill>
                          <a:latin typeface="Arial"/>
                          <a:ea typeface="Arial"/>
                          <a:cs typeface="Arial"/>
                        </a:rPr>
                        <a:t>their screen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Keep intended diversity within usable</a:t>
                      </a:r>
                    </a:p>
                    <a:p>
                      <a:r>
                        <a:rPr sz="1875" b="0">
                          <a:solidFill>
                            <a:srgbClr val="132C39"/>
                          </a:solidFill>
                          <a:latin typeface="Arial"/>
                          <a:ea typeface="Arial"/>
                          <a:cs typeface="Arial"/>
                        </a:rPr>
                        <a:t>screening capacity.</a:t>
                      </a:r>
                    </a:p>
                  </a:txBody>
                  <a:tcPr marL="133350" marR="133350" marT="57150" marB="57150" anchor="ctr">
                    <a:solidFill>
                      <a:srgbClr val="F7F7F2"/>
                    </a:solidFill>
                  </a:tcPr>
                </a:tc>
              </a:tr>
              <a:tr h="890588">
                <a:tc>
                  <a:txBody>
                    <a:bodyPr wrap="square">
                      <a:noAutofit/>
                    </a:bodyPr>
                    <a:lstStyle/>
                    <a:p>
                      <a:r>
                        <a:rPr sz="1875" b="0">
                          <a:solidFill>
                            <a:srgbClr val="132C39"/>
                          </a:solidFill>
                          <a:latin typeface="Arial"/>
                          <a:ea typeface="Arial"/>
                          <a:cs typeface="Arial"/>
                        </a:rPr>
                        <a:t>Controlled chemical environment</a:t>
                      </a:r>
                    </a:p>
                    <a:p>
                      <a:r>
                        <a:rPr sz="1875" b="0">
                          <a:solidFill>
                            <a:srgbClr val="132C39"/>
                          </a:solidFill>
                          <a:latin typeface="Arial"/>
                          <a:ea typeface="Arial"/>
                          <a:cs typeface="Arial"/>
                        </a:rPr>
                        <a:t>around colonies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Separate reporter behavior from the property</a:t>
                      </a:r>
                    </a:p>
                    <a:p>
                      <a:r>
                        <a:rPr sz="1875" b="0">
                          <a:solidFill>
                            <a:srgbClr val="132C39"/>
                          </a:solidFill>
                          <a:latin typeface="Arial"/>
                          <a:ea typeface="Arial"/>
                          <a:cs typeface="Arial"/>
                        </a:rPr>
                        <a:t>being evolved.</a:t>
                      </a:r>
                    </a:p>
                  </a:txBody>
                  <a:tcPr marL="133350" marR="133350" marT="57150" marB="57150" anchor="ctr">
                    <a:solidFill>
                      <a:srgbClr val="F7F7F2"/>
                    </a:solidFill>
                  </a:tcPr>
                </a:tc>
              </a:tr>
              <a:tr h="890588">
                <a:tc>
                  <a:txBody>
                    <a:bodyPr wrap="square">
                      <a:noAutofit/>
                    </a:bodyPr>
                    <a:lstStyle/>
                    <a:p>
                      <a:r>
                        <a:rPr sz="1875" b="0">
                          <a:solidFill>
                            <a:srgbClr val="132C39"/>
                          </a:solidFill>
                          <a:latin typeface="Arial"/>
                          <a:ea typeface="Arial"/>
                          <a:cs typeface="Arial"/>
                        </a:rPr>
                        <a:t>Recovery and further rounds of</a:t>
                      </a:r>
                    </a:p>
                    <a:p>
                      <a:r>
                        <a:rPr sz="1875" b="0">
                          <a:solidFill>
                            <a:srgbClr val="132C39"/>
                          </a:solidFill>
                          <a:latin typeface="Arial"/>
                          <a:ea typeface="Arial"/>
                          <a:cs typeface="Arial"/>
                        </a:rPr>
                        <a:t>screening</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Preserve the link between a score and its</a:t>
                      </a:r>
                    </a:p>
                    <a:p>
                      <a:r>
                        <a:rPr sz="1875" b="0">
                          <a:solidFill>
                            <a:srgbClr val="132C39"/>
                          </a:solidFill>
                          <a:latin typeface="Arial"/>
                          <a:ea typeface="Arial"/>
                          <a:cs typeface="Arial"/>
                        </a:rPr>
                        <a:t>source clone.</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676752962"/>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E6EC6CDC-DDD9-422F-9D75-96C43EA0443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The campaign cycle</a:t>
            </a:r>
          </a:p>
        </p:txBody>
      </p:sp>
      <p:sp>
        <p:nvSpPr>
          <p:cNvPr id="2" name="text-1">
            <a:extLst xmlns:a="http://schemas.openxmlformats.org/drawingml/2006/main">
              <a:ext uri="{FF2B5EF4-FFF2-40B4-BE49-F238E27FC236}">
                <a16:creationId xmlns:a16="http://schemas.microsoft.com/office/drawing/2014/main" id="{EAD92875-FFE4-46F8-BE6B-97CF5C910F65}"/>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04</a:t>
            </a:r>
          </a:p>
        </p:txBody>
      </p:sp>
      <p:sp>
        <p:nvSpPr>
          <p:cNvPr id="3" name="text-2">
            <a:extLst xmlns:a="http://schemas.openxmlformats.org/drawingml/2006/main">
              <a:ext uri="{FF2B5EF4-FFF2-40B4-BE49-F238E27FC236}">
                <a16:creationId xmlns:a16="http://schemas.microsoft.com/office/drawing/2014/main" id="{57C5EDB9-1C7D-4032-B7F3-5FE5149DE563}"/>
              </a:ext>
            </a:extLst>
          </p:cNvPr>
          <p:cNvSpPr>
            <a:spLocks xmlns:a="http://schemas.openxmlformats.org/drawingml/2006/main" noGrp="1"/>
          </p:cNvSpPr>
          <p:nvPr/>
        </p:nvSpPr>
        <p:spPr>
          <a:xfrm xmlns:a="http://schemas.openxmlformats.org/drawingml/2006/main">
            <a:off x="609600" y="1552575"/>
            <a:ext cx="2266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7F7B"/>
                </a:solidFill>
                <a:latin typeface="Arial"/>
                <a:ea typeface="Arial"/>
                <a:cs typeface="Arial"/>
              </a:defRPr>
            </a:pPr>
            <a:r>
              <a:rPr sz="2025" b="1">
                <a:solidFill>
                  <a:srgbClr val="127F7B"/>
                </a:solidFill>
                <a:latin typeface="Arial"/>
                <a:ea typeface="Arial"/>
                <a:cs typeface="Arial"/>
              </a:rPr>
              <a:t>01  Define</a:t>
            </a:r>
          </a:p>
        </p:txBody>
      </p:sp>
      <p:sp>
        <p:nvSpPr>
          <p:cNvPr id="4" name="text-3">
            <a:extLst xmlns:a="http://schemas.openxmlformats.org/drawingml/2006/main">
              <a:ext uri="{FF2B5EF4-FFF2-40B4-BE49-F238E27FC236}">
                <a16:creationId xmlns:a16="http://schemas.microsoft.com/office/drawing/2014/main" id="{64C39C2C-D083-4A8C-BAC7-2200BC745949}"/>
              </a:ext>
            </a:extLst>
          </p:cNvPr>
          <p:cNvSpPr>
            <a:spLocks xmlns:a="http://schemas.openxmlformats.org/drawingml/2006/main" noGrp="1"/>
          </p:cNvSpPr>
          <p:nvPr/>
        </p:nvSpPr>
        <p:spPr>
          <a:xfrm xmlns:a="http://schemas.openxmlformats.org/drawingml/2006/main">
            <a:off x="3086100" y="1552575"/>
            <a:ext cx="849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C39"/>
                </a:solidFill>
                <a:latin typeface="Arial"/>
                <a:ea typeface="Arial"/>
                <a:cs typeface="Arial"/>
              </a:defRPr>
            </a:pPr>
            <a:r>
              <a:rPr sz="2025" b="0">
                <a:solidFill>
                  <a:srgbClr val="132C39"/>
                </a:solidFill>
                <a:latin typeface="Arial"/>
                <a:ea typeface="Arial"/>
                <a:cs typeface="Arial"/>
              </a:rPr>
              <a:t>Application, parent and measurable improvement.</a:t>
            </a:r>
          </a:p>
        </p:txBody>
      </p:sp>
      <p:sp>
        <p:nvSpPr>
          <p:cNvPr id="5" name="text-4">
            <a:extLst xmlns:a="http://schemas.openxmlformats.org/drawingml/2006/main">
              <a:ext uri="{FF2B5EF4-FFF2-40B4-BE49-F238E27FC236}">
                <a16:creationId xmlns:a16="http://schemas.microsoft.com/office/drawing/2014/main" id="{F7C8C40D-219A-4781-ACFC-4F2905170A41}"/>
              </a:ext>
            </a:extLst>
          </p:cNvPr>
          <p:cNvSpPr>
            <a:spLocks xmlns:a="http://schemas.openxmlformats.org/drawingml/2006/main" noGrp="1"/>
          </p:cNvSpPr>
          <p:nvPr/>
        </p:nvSpPr>
        <p:spPr>
          <a:xfrm xmlns:a="http://schemas.openxmlformats.org/drawingml/2006/main">
            <a:off x="609600" y="2266950"/>
            <a:ext cx="2266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7F7B"/>
                </a:solidFill>
                <a:latin typeface="Arial"/>
                <a:ea typeface="Arial"/>
                <a:cs typeface="Arial"/>
              </a:defRPr>
            </a:pPr>
            <a:r>
              <a:rPr sz="2025" b="1">
                <a:solidFill>
                  <a:srgbClr val="127F7B"/>
                </a:solidFill>
                <a:latin typeface="Arial"/>
                <a:ea typeface="Arial"/>
                <a:cs typeface="Arial"/>
              </a:rPr>
              <a:t>02  Validate</a:t>
            </a:r>
          </a:p>
        </p:txBody>
      </p:sp>
      <p:sp>
        <p:nvSpPr>
          <p:cNvPr id="6" name="text-5">
            <a:extLst xmlns:a="http://schemas.openxmlformats.org/drawingml/2006/main">
              <a:ext uri="{FF2B5EF4-FFF2-40B4-BE49-F238E27FC236}">
                <a16:creationId xmlns:a16="http://schemas.microsoft.com/office/drawing/2014/main" id="{0591CB22-FE26-4BDB-80F3-F6E3B6AB3066}"/>
              </a:ext>
            </a:extLst>
          </p:cNvPr>
          <p:cNvSpPr>
            <a:spLocks xmlns:a="http://schemas.openxmlformats.org/drawingml/2006/main" noGrp="1"/>
          </p:cNvSpPr>
          <p:nvPr/>
        </p:nvSpPr>
        <p:spPr>
          <a:xfrm xmlns:a="http://schemas.openxmlformats.org/drawingml/2006/main">
            <a:off x="3086100" y="2266950"/>
            <a:ext cx="849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C39"/>
                </a:solidFill>
                <a:latin typeface="Arial"/>
                <a:ea typeface="Arial"/>
                <a:cs typeface="Arial"/>
              </a:defRPr>
            </a:pPr>
            <a:r>
              <a:rPr sz="2025" b="0">
                <a:solidFill>
                  <a:srgbClr val="132C39"/>
                </a:solidFill>
                <a:latin typeface="Arial"/>
                <a:ea typeface="Arial"/>
                <a:cs typeface="Arial"/>
              </a:rPr>
              <a:t>Active expression, assay range and controls.</a:t>
            </a:r>
          </a:p>
        </p:txBody>
      </p:sp>
      <p:sp>
        <p:nvSpPr>
          <p:cNvPr id="7" name="text-6">
            <a:extLst xmlns:a="http://schemas.openxmlformats.org/drawingml/2006/main">
              <a:ext uri="{FF2B5EF4-FFF2-40B4-BE49-F238E27FC236}">
                <a16:creationId xmlns:a16="http://schemas.microsoft.com/office/drawing/2014/main" id="{26B311A7-BC59-4A1F-95A0-99E46E120D70}"/>
              </a:ext>
            </a:extLst>
          </p:cNvPr>
          <p:cNvSpPr>
            <a:spLocks xmlns:a="http://schemas.openxmlformats.org/drawingml/2006/main" noGrp="1"/>
          </p:cNvSpPr>
          <p:nvPr/>
        </p:nvSpPr>
        <p:spPr>
          <a:xfrm xmlns:a="http://schemas.openxmlformats.org/drawingml/2006/main">
            <a:off x="609600" y="2981325"/>
            <a:ext cx="2266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7F7B"/>
                </a:solidFill>
                <a:latin typeface="Arial"/>
                <a:ea typeface="Arial"/>
                <a:cs typeface="Arial"/>
              </a:defRPr>
            </a:pPr>
            <a:r>
              <a:rPr sz="2025" b="1">
                <a:solidFill>
                  <a:srgbClr val="127F7B"/>
                </a:solidFill>
                <a:latin typeface="Arial"/>
                <a:ea typeface="Arial"/>
                <a:cs typeface="Arial"/>
              </a:rPr>
              <a:t>03  Pilot</a:t>
            </a:r>
          </a:p>
        </p:txBody>
      </p:sp>
      <p:sp>
        <p:nvSpPr>
          <p:cNvPr id="8" name="text-7">
            <a:extLst xmlns:a="http://schemas.openxmlformats.org/drawingml/2006/main">
              <a:ext uri="{FF2B5EF4-FFF2-40B4-BE49-F238E27FC236}">
                <a16:creationId xmlns:a16="http://schemas.microsoft.com/office/drawing/2014/main" id="{0FE24BDD-AB0F-493B-86B7-95B40A5AB057}"/>
              </a:ext>
            </a:extLst>
          </p:cNvPr>
          <p:cNvSpPr>
            <a:spLocks xmlns:a="http://schemas.openxmlformats.org/drawingml/2006/main" noGrp="1"/>
          </p:cNvSpPr>
          <p:nvPr/>
        </p:nvSpPr>
        <p:spPr>
          <a:xfrm xmlns:a="http://schemas.openxmlformats.org/drawingml/2006/main">
            <a:off x="3086100" y="2981325"/>
            <a:ext cx="849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C39"/>
                </a:solidFill>
                <a:latin typeface="Arial"/>
                <a:ea typeface="Arial"/>
                <a:cs typeface="Arial"/>
              </a:defRPr>
            </a:pPr>
            <a:r>
              <a:rPr sz="2025" b="0">
                <a:solidFill>
                  <a:srgbClr val="132C39"/>
                </a:solidFill>
                <a:latin typeface="Arial"/>
                <a:ea typeface="Arial"/>
                <a:cs typeface="Arial"/>
              </a:rPr>
              <a:t>Known clones through measurement and recovery.</a:t>
            </a:r>
          </a:p>
        </p:txBody>
      </p:sp>
      <p:sp>
        <p:nvSpPr>
          <p:cNvPr id="9" name="text-8">
            <a:extLst xmlns:a="http://schemas.openxmlformats.org/drawingml/2006/main">
              <a:ext uri="{FF2B5EF4-FFF2-40B4-BE49-F238E27FC236}">
                <a16:creationId xmlns:a16="http://schemas.microsoft.com/office/drawing/2014/main" id="{EDA57D53-DD50-4DF5-8765-6C1743A80608}"/>
              </a:ext>
            </a:extLst>
          </p:cNvPr>
          <p:cNvSpPr>
            <a:spLocks xmlns:a="http://schemas.openxmlformats.org/drawingml/2006/main" noGrp="1"/>
          </p:cNvSpPr>
          <p:nvPr/>
        </p:nvSpPr>
        <p:spPr>
          <a:xfrm xmlns:a="http://schemas.openxmlformats.org/drawingml/2006/main">
            <a:off x="609600" y="3695700"/>
            <a:ext cx="2266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7F7B"/>
                </a:solidFill>
                <a:latin typeface="Arial"/>
                <a:ea typeface="Arial"/>
                <a:cs typeface="Arial"/>
              </a:defRPr>
            </a:pPr>
            <a:r>
              <a:rPr sz="2025" b="1">
                <a:solidFill>
                  <a:srgbClr val="127F7B"/>
                </a:solidFill>
                <a:latin typeface="Arial"/>
                <a:ea typeface="Arial"/>
                <a:cs typeface="Arial"/>
              </a:rPr>
              <a:t>04  Diversify</a:t>
            </a:r>
          </a:p>
        </p:txBody>
      </p:sp>
      <p:sp>
        <p:nvSpPr>
          <p:cNvPr id="10" name="text-9">
            <a:extLst xmlns:a="http://schemas.openxmlformats.org/drawingml/2006/main">
              <a:ext uri="{FF2B5EF4-FFF2-40B4-BE49-F238E27FC236}">
                <a16:creationId xmlns:a16="http://schemas.microsoft.com/office/drawing/2014/main" id="{D6537356-2E6F-463F-B564-41867F0B754C}"/>
              </a:ext>
            </a:extLst>
          </p:cNvPr>
          <p:cNvSpPr>
            <a:spLocks xmlns:a="http://schemas.openxmlformats.org/drawingml/2006/main" noGrp="1"/>
          </p:cNvSpPr>
          <p:nvPr/>
        </p:nvSpPr>
        <p:spPr>
          <a:xfrm xmlns:a="http://schemas.openxmlformats.org/drawingml/2006/main">
            <a:off x="3086100" y="3695700"/>
            <a:ext cx="849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C39"/>
                </a:solidFill>
                <a:latin typeface="Arial"/>
                <a:ea typeface="Arial"/>
                <a:cs typeface="Arial"/>
              </a:defRPr>
            </a:pPr>
            <a:r>
              <a:rPr sz="2025" b="0">
                <a:solidFill>
                  <a:srgbClr val="132C39"/>
                </a:solidFill>
                <a:latin typeface="Arial"/>
                <a:ea typeface="Arial"/>
                <a:cs typeface="Arial"/>
              </a:rPr>
              <a:t>A library that fits the measured capacity.</a:t>
            </a:r>
          </a:p>
        </p:txBody>
      </p:sp>
      <p:sp>
        <p:nvSpPr>
          <p:cNvPr id="11" name="text-10">
            <a:extLst xmlns:a="http://schemas.openxmlformats.org/drawingml/2006/main">
              <a:ext uri="{FF2B5EF4-FFF2-40B4-BE49-F238E27FC236}">
                <a16:creationId xmlns:a16="http://schemas.microsoft.com/office/drawing/2014/main" id="{B5BE4B0E-58F0-4B9B-A192-2DE4D42CB85A}"/>
              </a:ext>
            </a:extLst>
          </p:cNvPr>
          <p:cNvSpPr>
            <a:spLocks xmlns:a="http://schemas.openxmlformats.org/drawingml/2006/main" noGrp="1"/>
          </p:cNvSpPr>
          <p:nvPr/>
        </p:nvSpPr>
        <p:spPr>
          <a:xfrm xmlns:a="http://schemas.openxmlformats.org/drawingml/2006/main">
            <a:off x="609600" y="4410075"/>
            <a:ext cx="2266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7F7B"/>
                </a:solidFill>
                <a:latin typeface="Arial"/>
                <a:ea typeface="Arial"/>
                <a:cs typeface="Arial"/>
              </a:defRPr>
            </a:pPr>
            <a:r>
              <a:rPr sz="2025" b="1">
                <a:solidFill>
                  <a:srgbClr val="127F7B"/>
                </a:solidFill>
                <a:latin typeface="Arial"/>
                <a:ea typeface="Arial"/>
                <a:cs typeface="Arial"/>
              </a:rPr>
              <a:t>05  Screen</a:t>
            </a:r>
          </a:p>
        </p:txBody>
      </p:sp>
      <p:sp>
        <p:nvSpPr>
          <p:cNvPr id="12" name="text-11">
            <a:extLst xmlns:a="http://schemas.openxmlformats.org/drawingml/2006/main">
              <a:ext uri="{FF2B5EF4-FFF2-40B4-BE49-F238E27FC236}">
                <a16:creationId xmlns:a16="http://schemas.microsoft.com/office/drawing/2014/main" id="{E6FA3A34-7C5C-4C6D-A36B-F106A771C217}"/>
              </a:ext>
            </a:extLst>
          </p:cNvPr>
          <p:cNvSpPr>
            <a:spLocks xmlns:a="http://schemas.openxmlformats.org/drawingml/2006/main" noGrp="1"/>
          </p:cNvSpPr>
          <p:nvPr/>
        </p:nvSpPr>
        <p:spPr>
          <a:xfrm xmlns:a="http://schemas.openxmlformats.org/drawingml/2006/main">
            <a:off x="3086100" y="4410075"/>
            <a:ext cx="849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C39"/>
                </a:solidFill>
                <a:latin typeface="Arial"/>
                <a:ea typeface="Arial"/>
                <a:cs typeface="Arial"/>
              </a:defRPr>
            </a:pPr>
            <a:r>
              <a:rPr sz="2025" b="0">
                <a:solidFill>
                  <a:srgbClr val="132C39"/>
                </a:solidFill>
                <a:latin typeface="Arial"/>
                <a:ea typeface="Arial"/>
                <a:cs typeface="Arial"/>
              </a:rPr>
              <a:t>Primary measurements followed by independent confirmation.</a:t>
            </a:r>
          </a:p>
        </p:txBody>
      </p:sp>
      <p:sp>
        <p:nvSpPr>
          <p:cNvPr id="13" name="text-12">
            <a:extLst xmlns:a="http://schemas.openxmlformats.org/drawingml/2006/main">
              <a:ext uri="{FF2B5EF4-FFF2-40B4-BE49-F238E27FC236}">
                <a16:creationId xmlns:a16="http://schemas.microsoft.com/office/drawing/2014/main" id="{DC37B8E9-8595-4CDE-AF6F-4C56C8BD0816}"/>
              </a:ext>
            </a:extLst>
          </p:cNvPr>
          <p:cNvSpPr>
            <a:spLocks xmlns:a="http://schemas.openxmlformats.org/drawingml/2006/main" noGrp="1"/>
          </p:cNvSpPr>
          <p:nvPr/>
        </p:nvSpPr>
        <p:spPr>
          <a:xfrm xmlns:a="http://schemas.openxmlformats.org/drawingml/2006/main">
            <a:off x="609600" y="5124450"/>
            <a:ext cx="22669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7F7B"/>
                </a:solidFill>
                <a:latin typeface="Arial"/>
                <a:ea typeface="Arial"/>
                <a:cs typeface="Arial"/>
              </a:defRPr>
            </a:pPr>
            <a:r>
              <a:rPr sz="2025" b="1">
                <a:solidFill>
                  <a:srgbClr val="127F7B"/>
                </a:solidFill>
                <a:latin typeface="Arial"/>
                <a:ea typeface="Arial"/>
                <a:cs typeface="Arial"/>
              </a:rPr>
              <a:t>06  Review</a:t>
            </a:r>
          </a:p>
        </p:txBody>
      </p:sp>
      <p:sp>
        <p:nvSpPr>
          <p:cNvPr id="14" name="text-13">
            <a:extLst xmlns:a="http://schemas.openxmlformats.org/drawingml/2006/main">
              <a:ext uri="{FF2B5EF4-FFF2-40B4-BE49-F238E27FC236}">
                <a16:creationId xmlns:a16="http://schemas.microsoft.com/office/drawing/2014/main" id="{CBBCB448-0BA0-4A62-8DA4-7401B349CB81}"/>
              </a:ext>
            </a:extLst>
          </p:cNvPr>
          <p:cNvSpPr>
            <a:spLocks xmlns:a="http://schemas.openxmlformats.org/drawingml/2006/main" noGrp="1"/>
          </p:cNvSpPr>
          <p:nvPr/>
        </p:nvSpPr>
        <p:spPr>
          <a:xfrm xmlns:a="http://schemas.openxmlformats.org/drawingml/2006/main">
            <a:off x="3086100" y="5124450"/>
            <a:ext cx="8496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C39"/>
                </a:solidFill>
                <a:latin typeface="Arial"/>
                <a:ea typeface="Arial"/>
                <a:cs typeface="Arial"/>
              </a:defRPr>
            </a:pPr>
            <a:r>
              <a:rPr sz="2025" b="0">
                <a:solidFill>
                  <a:srgbClr val="132C39"/>
                </a:solidFill>
                <a:latin typeface="Arial"/>
                <a:ea typeface="Arial"/>
                <a:cs typeface="Arial"/>
              </a:rPr>
              <a:t>Archive evidence and choose the next parent.</a:t>
            </a:r>
          </a:p>
        </p:txBody>
      </p:sp>
    </p:spTree>
    <p:extLst>
      <p:ext uri="{BB962C8B-B14F-4D97-AF65-F5344CB8AC3E}">
        <p14:creationId xmlns:p14="http://schemas.microsoft.com/office/powerpoint/2010/main" val="1470700185"/>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060754E-5E20-4FF2-BC35-496CC1974B4A}"/>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A measurable campaign objective</a:t>
            </a:r>
          </a:p>
        </p:txBody>
      </p:sp>
      <p:sp>
        <p:nvSpPr>
          <p:cNvPr id="2" name="text-1">
            <a:extLst xmlns:a="http://schemas.openxmlformats.org/drawingml/2006/main">
              <a:ext uri="{FF2B5EF4-FFF2-40B4-BE49-F238E27FC236}">
                <a16:creationId xmlns:a16="http://schemas.microsoft.com/office/drawing/2014/main" id="{01533E12-51AF-4283-89F6-D9AD896481CC}"/>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05</a:t>
            </a:r>
          </a:p>
        </p:txBody>
      </p:sp>
      <p:graphicFrame>
        <p:nvGraphicFramePr>
          <p:cNvPr id="7" name=""/>
          <p:cNvGraphicFramePr/>
          <p:nvPr/>
        </p:nvGraphicFramePr>
        <p:xfrm>
          <a:off xmlns:a="http://schemas.openxmlformats.org/drawingml/2006/main" x="609600" y="1590675"/>
          <a:ext xmlns:a="http://schemas.openxmlformats.org/drawingml/2006/main" cx="10972800" cy="3857625"/>
        </p:xfrm>
        <a:graphic xmlns:a="http://schemas.openxmlformats.org/drawingml/2006/main">
          <a:graphicData uri="http://schemas.openxmlformats.org/drawingml/2006/table">
            <a:tbl>
              <a:tblPr firstRow="1" bandRow="0"/>
              <a:tblGrid>
                <a:gridCol w="3000375"/>
                <a:gridCol w="4543425"/>
                <a:gridCol w="3429000"/>
              </a:tblGrid>
              <a:tr h="552450">
                <a:tc>
                  <a:txBody>
                    <a:bodyPr wrap="square">
                      <a:noAutofit/>
                    </a:bodyPr>
                    <a:lstStyle/>
                    <a:p>
                      <a:r>
                        <a:rPr sz="1800" b="1">
                          <a:solidFill>
                            <a:srgbClr val="FFFFFF"/>
                          </a:solidFill>
                          <a:latin typeface="Arial"/>
                          <a:ea typeface="Arial"/>
                          <a:cs typeface="Arial"/>
                        </a:rPr>
                        <a:t>Objective</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Primary measure</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Property to preserve</a:t>
                      </a:r>
                    </a:p>
                  </a:txBody>
                  <a:tcPr marL="133350" marR="133350" marT="57150" marB="57150" anchor="ctr">
                    <a:solidFill>
                      <a:srgbClr val="132C39"/>
                    </a:solidFill>
                  </a:tcPr>
                </a:tc>
              </a:tr>
              <a:tr h="826294">
                <a:tc>
                  <a:txBody>
                    <a:bodyPr wrap="square">
                      <a:noAutofit/>
                    </a:bodyPr>
                    <a:lstStyle/>
                    <a:p>
                      <a:r>
                        <a:rPr sz="1800" b="0">
                          <a:solidFill>
                            <a:srgbClr val="132C39"/>
                          </a:solidFill>
                          <a:latin typeface="Arial"/>
                          <a:ea typeface="Arial"/>
                          <a:cs typeface="Arial"/>
                        </a:rPr>
                        <a:t>Catalytic performance</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Product rate at stated enzyme</a:t>
                      </a:r>
                    </a:p>
                    <a:p>
                      <a:r>
                        <a:rPr sz="1800" b="0">
                          <a:solidFill>
                            <a:srgbClr val="132C39"/>
                          </a:solidFill>
                          <a:latin typeface="Arial"/>
                          <a:ea typeface="Arial"/>
                          <a:cs typeface="Arial"/>
                        </a:rPr>
                        <a:t>amount</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Required selectivity and</a:t>
                      </a:r>
                    </a:p>
                    <a:p>
                      <a:r>
                        <a:rPr sz="1800" b="0">
                          <a:solidFill>
                            <a:srgbClr val="132C39"/>
                          </a:solidFill>
                          <a:latin typeface="Arial"/>
                          <a:ea typeface="Arial"/>
                          <a:cs typeface="Arial"/>
                        </a:rPr>
                        <a:t>stability</a:t>
                      </a:r>
                    </a:p>
                  </a:txBody>
                  <a:tcPr marL="133350" marR="133350" marT="57150" marB="57150" anchor="ctr">
                    <a:solidFill>
                      <a:srgbClr val="F7F7F2"/>
                    </a:solidFill>
                  </a:tcPr>
                </a:tc>
              </a:tr>
              <a:tr h="826294">
                <a:tc>
                  <a:txBody>
                    <a:bodyPr wrap="square">
                      <a:noAutofit/>
                    </a:bodyPr>
                    <a:lstStyle/>
                    <a:p>
                      <a:r>
                        <a:rPr sz="1800" b="0">
                          <a:solidFill>
                            <a:srgbClr val="132C39"/>
                          </a:solidFill>
                          <a:latin typeface="Arial"/>
                          <a:ea typeface="Arial"/>
                          <a:cs typeface="Arial"/>
                        </a:rPr>
                        <a:t>Production</a:t>
                      </a:r>
                    </a:p>
                    <a:p>
                      <a:r>
                        <a:rPr sz="1800" b="0">
                          <a:solidFill>
                            <a:srgbClr val="132C39"/>
                          </a:solidFill>
                          <a:latin typeface="Arial"/>
                          <a:ea typeface="Arial"/>
                          <a:cs typeface="Arial"/>
                        </a:rPr>
                        <a:t>performance</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Useful activity per culture volume</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Reproducible recovery and</a:t>
                      </a:r>
                    </a:p>
                    <a:p>
                      <a:r>
                        <a:rPr sz="1800" b="0">
                          <a:solidFill>
                            <a:srgbClr val="132C39"/>
                          </a:solidFill>
                          <a:latin typeface="Arial"/>
                          <a:ea typeface="Arial"/>
                          <a:cs typeface="Arial"/>
                        </a:rPr>
                        <a:t>yield</a:t>
                      </a:r>
                    </a:p>
                  </a:txBody>
                  <a:tcPr marL="133350" marR="133350" marT="57150" marB="57150" anchor="ctr">
                    <a:solidFill>
                      <a:srgbClr val="F7F7F2"/>
                    </a:solidFill>
                  </a:tcPr>
                </a:tc>
              </a:tr>
              <a:tr h="826294">
                <a:tc>
                  <a:txBody>
                    <a:bodyPr wrap="square">
                      <a:noAutofit/>
                    </a:bodyPr>
                    <a:lstStyle/>
                    <a:p>
                      <a:r>
                        <a:rPr sz="1800" b="0">
                          <a:solidFill>
                            <a:srgbClr val="132C39"/>
                          </a:solidFill>
                          <a:latin typeface="Arial"/>
                          <a:ea typeface="Arial"/>
                          <a:cs typeface="Arial"/>
                        </a:rPr>
                        <a:t>Operational stability</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Absolute activity after a defined</a:t>
                      </a:r>
                    </a:p>
                    <a:p>
                      <a:r>
                        <a:rPr sz="1800" b="0">
                          <a:solidFill>
                            <a:srgbClr val="132C39"/>
                          </a:solidFill>
                          <a:latin typeface="Arial"/>
                          <a:ea typeface="Arial"/>
                          <a:cs typeface="Arial"/>
                        </a:rPr>
                        <a:t>exposure</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Useful starting activity</a:t>
                      </a:r>
                    </a:p>
                  </a:txBody>
                  <a:tcPr marL="133350" marR="133350" marT="57150" marB="57150" anchor="ctr">
                    <a:solidFill>
                      <a:srgbClr val="F7F7F2"/>
                    </a:solidFill>
                  </a:tcPr>
                </a:tc>
              </a:tr>
              <a:tr h="826294">
                <a:tc>
                  <a:txBody>
                    <a:bodyPr wrap="square">
                      <a:noAutofit/>
                    </a:bodyPr>
                    <a:lstStyle/>
                    <a:p>
                      <a:r>
                        <a:rPr sz="1800" b="0">
                          <a:solidFill>
                            <a:srgbClr val="132C39"/>
                          </a:solidFill>
                          <a:latin typeface="Arial"/>
                          <a:ea typeface="Arial"/>
                          <a:cs typeface="Arial"/>
                        </a:rPr>
                        <a:t>Product selectivity</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Desired product fraction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Adequate total conversion</a:t>
                      </a:r>
                    </a:p>
                  </a:txBody>
                  <a:tcPr marL="133350" marR="133350" marT="57150" marB="57150" anchor="ctr">
                    <a:solidFill>
                      <a:srgbClr val="F7F7F2"/>
                    </a:solidFill>
                  </a:tcPr>
                </a:tc>
              </a:tr>
            </a:tbl>
          </a:graphicData>
        </a:graphic>
      </p:graphicFrame>
      <p:sp>
        <p:nvSpPr>
          <p:cNvPr id="4" name="text-2">
            <a:extLst xmlns:a="http://schemas.openxmlformats.org/drawingml/2006/main">
              <a:ext uri="{FF2B5EF4-FFF2-40B4-BE49-F238E27FC236}">
                <a16:creationId xmlns:a16="http://schemas.microsoft.com/office/drawing/2014/main" id="{373A3202-0BC7-4F87-9D47-F93111310F31}"/>
              </a:ext>
            </a:extLst>
          </p:cNvPr>
          <p:cNvSpPr>
            <a:spLocks xmlns:a="http://schemas.openxmlformats.org/drawingml/2006/main" noGrp="1"/>
          </p:cNvSpPr>
          <p:nvPr/>
        </p:nvSpPr>
        <p:spPr>
          <a:xfrm xmlns:a="http://schemas.openxmlformats.org/drawingml/2006/main">
            <a:off x="609600" y="56864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27F7B"/>
                </a:solidFill>
                <a:latin typeface="Arial"/>
                <a:ea typeface="Arial"/>
                <a:cs typeface="Arial"/>
              </a:defRPr>
            </a:pPr>
            <a:r>
              <a:rPr sz="1875" b="1">
                <a:solidFill>
                  <a:srgbClr val="127F7B"/>
                </a:solidFill>
                <a:latin typeface="Arial"/>
                <a:ea typeface="Arial"/>
                <a:cs typeface="Arial"/>
              </a:rPr>
              <a:t>The brief also fixes the parent sequence, assay conditions and minimum worthwhile improvement.</a:t>
            </a:r>
          </a:p>
        </p:txBody>
      </p:sp>
    </p:spTree>
    <p:extLst>
      <p:ext uri="{BB962C8B-B14F-4D97-AF65-F5344CB8AC3E}">
        <p14:creationId xmlns:p14="http://schemas.microsoft.com/office/powerpoint/2010/main" val="1060624001"/>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D7EA780-15FE-4B99-94F7-F9D46464A5CA}"/>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Expression and sample format</a:t>
            </a:r>
          </a:p>
        </p:txBody>
      </p:sp>
      <p:sp>
        <p:nvSpPr>
          <p:cNvPr id="2" name="text-1">
            <a:extLst xmlns:a="http://schemas.openxmlformats.org/drawingml/2006/main">
              <a:ext uri="{FF2B5EF4-FFF2-40B4-BE49-F238E27FC236}">
                <a16:creationId xmlns:a16="http://schemas.microsoft.com/office/drawing/2014/main" id="{C65BC53C-EC09-4A75-BCF2-063CA4DACAE0}"/>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06</a:t>
            </a:r>
          </a:p>
        </p:txBody>
      </p:sp>
      <p:sp>
        <p:nvSpPr>
          <p:cNvPr id="3" name="text-2">
            <a:extLst xmlns:a="http://schemas.openxmlformats.org/drawingml/2006/main">
              <a:ext uri="{FF2B5EF4-FFF2-40B4-BE49-F238E27FC236}">
                <a16:creationId xmlns:a16="http://schemas.microsoft.com/office/drawing/2014/main" id="{031F2F71-5E06-4F60-919F-210204EA3E29}"/>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The chosen host must produce active parent material before library expansion.</a:t>
            </a:r>
          </a:p>
        </p:txBody>
      </p:sp>
      <p:graphicFrame>
        <p:nvGraphicFramePr>
          <p:cNvPr id="8" name=""/>
          <p:cNvGraphicFramePr/>
          <p:nvPr/>
        </p:nvGraphicFramePr>
        <p:xfrm>
          <a:off xmlns:a="http://schemas.openxmlformats.org/drawingml/2006/main" x="609600" y="1590675"/>
          <a:ext xmlns:a="http://schemas.openxmlformats.org/drawingml/2006/main" cx="10972800" cy="4114800"/>
        </p:xfrm>
        <a:graphic xmlns:a="http://schemas.openxmlformats.org/drawingml/2006/main">
          <a:graphicData uri="http://schemas.openxmlformats.org/drawingml/2006/table">
            <a:tbl>
              <a:tblPr firstRow="1" bandRow="0"/>
              <a:tblGrid>
                <a:gridCol w="2628900"/>
                <a:gridCol w="4114800"/>
                <a:gridCol w="4229100"/>
              </a:tblGrid>
              <a:tr h="552450">
                <a:tc>
                  <a:txBody>
                    <a:bodyPr wrap="square">
                      <a:noAutofit/>
                    </a:bodyPr>
                    <a:lstStyle/>
                    <a:p>
                      <a:r>
                        <a:rPr sz="1875" b="1">
                          <a:solidFill>
                            <a:srgbClr val="FFFFFF"/>
                          </a:solidFill>
                          <a:latin typeface="Arial"/>
                          <a:ea typeface="Arial"/>
                          <a:cs typeface="Arial"/>
                        </a:rPr>
                        <a:t>Format</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Useful feature</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Main confounder</a:t>
                      </a:r>
                    </a:p>
                  </a:txBody>
                  <a:tcPr marL="133350" marR="133350" marT="57150" marB="57150" anchor="ctr">
                    <a:solidFill>
                      <a:srgbClr val="132C39"/>
                    </a:solidFill>
                  </a:tcPr>
                </a:tc>
              </a:tr>
              <a:tr h="890588">
                <a:tc>
                  <a:txBody>
                    <a:bodyPr wrap="square">
                      <a:noAutofit/>
                    </a:bodyPr>
                    <a:lstStyle/>
                    <a:p>
                      <a:r>
                        <a:rPr sz="1875" b="0">
                          <a:solidFill>
                            <a:srgbClr val="132C39"/>
                          </a:solidFill>
                          <a:latin typeface="Arial"/>
                          <a:ea typeface="Arial"/>
                          <a:cs typeface="Arial"/>
                        </a:rPr>
                        <a:t>Whole cells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Little extraction work</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Transport, growth and</a:t>
                      </a:r>
                    </a:p>
                    <a:p>
                      <a:r>
                        <a:rPr sz="1875" b="0">
                          <a:solidFill>
                            <a:srgbClr val="132C39"/>
                          </a:solidFill>
                          <a:latin typeface="Arial"/>
                          <a:ea typeface="Arial"/>
                          <a:cs typeface="Arial"/>
                        </a:rPr>
                        <a:t>abundance</a:t>
                      </a:r>
                    </a:p>
                  </a:txBody>
                  <a:tcPr marL="133350" marR="133350" marT="57150" marB="57150" anchor="ctr">
                    <a:solidFill>
                      <a:srgbClr val="F7F7F2"/>
                    </a:solidFill>
                  </a:tcPr>
                </a:tc>
              </a:tr>
              <a:tr h="890588">
                <a:tc>
                  <a:txBody>
                    <a:bodyPr wrap="square">
                      <a:noAutofit/>
                    </a:bodyPr>
                    <a:lstStyle/>
                    <a:p>
                      <a:r>
                        <a:rPr sz="1875" b="0">
                          <a:solidFill>
                            <a:srgbClr val="132C39"/>
                          </a:solidFill>
                          <a:latin typeface="Arial"/>
                          <a:ea typeface="Arial"/>
                          <a:cs typeface="Arial"/>
                        </a:rPr>
                        <a:t>Lysate</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Access to intracellular</a:t>
                      </a:r>
                    </a:p>
                    <a:p>
                      <a:r>
                        <a:rPr sz="1875" b="0">
                          <a:solidFill>
                            <a:srgbClr val="132C39"/>
                          </a:solidFill>
                          <a:latin typeface="Arial"/>
                          <a:ea typeface="Arial"/>
                          <a:cs typeface="Arial"/>
                        </a:rPr>
                        <a:t>enzyme</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Host activity and variable</a:t>
                      </a:r>
                    </a:p>
                    <a:p>
                      <a:r>
                        <a:rPr sz="1875" b="0">
                          <a:solidFill>
                            <a:srgbClr val="132C39"/>
                          </a:solidFill>
                          <a:latin typeface="Arial"/>
                          <a:ea typeface="Arial"/>
                          <a:cs typeface="Arial"/>
                        </a:rPr>
                        <a:t>lysis</a:t>
                      </a:r>
                    </a:p>
                  </a:txBody>
                  <a:tcPr marL="133350" marR="133350" marT="57150" marB="57150" anchor="ctr">
                    <a:solidFill>
                      <a:srgbClr val="F7F7F2"/>
                    </a:solidFill>
                  </a:tcPr>
                </a:tc>
              </a:tr>
              <a:tr h="890588">
                <a:tc>
                  <a:txBody>
                    <a:bodyPr wrap="square">
                      <a:noAutofit/>
                    </a:bodyPr>
                    <a:lstStyle/>
                    <a:p>
                      <a:r>
                        <a:rPr sz="1875" b="0">
                          <a:solidFill>
                            <a:srgbClr val="132C39"/>
                          </a:solidFill>
                          <a:latin typeface="Arial"/>
                          <a:ea typeface="Arial"/>
                          <a:cs typeface="Arial"/>
                        </a:rPr>
                        <a:t>Supernatant</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Convenient for secreted</a:t>
                      </a:r>
                    </a:p>
                    <a:p>
                      <a:r>
                        <a:rPr sz="1875" b="0">
                          <a:solidFill>
                            <a:srgbClr val="132C39"/>
                          </a:solidFill>
                          <a:latin typeface="Arial"/>
                          <a:ea typeface="Arial"/>
                          <a:cs typeface="Arial"/>
                        </a:rPr>
                        <a:t>material</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Secretion, degradation and</a:t>
                      </a:r>
                    </a:p>
                    <a:p>
                      <a:r>
                        <a:rPr sz="1875" b="0">
                          <a:solidFill>
                            <a:srgbClr val="132C39"/>
                          </a:solidFill>
                          <a:latin typeface="Arial"/>
                          <a:ea typeface="Arial"/>
                          <a:cs typeface="Arial"/>
                        </a:rPr>
                        <a:t>medium</a:t>
                      </a:r>
                    </a:p>
                  </a:txBody>
                  <a:tcPr marL="133350" marR="133350" marT="57150" marB="57150" anchor="ctr">
                    <a:solidFill>
                      <a:srgbClr val="F7F7F2"/>
                    </a:solidFill>
                  </a:tcPr>
                </a:tc>
              </a:tr>
              <a:tr h="890588">
                <a:tc>
                  <a:txBody>
                    <a:bodyPr wrap="square">
                      <a:noAutofit/>
                    </a:bodyPr>
                    <a:lstStyle/>
                    <a:p>
                      <a:r>
                        <a:rPr sz="1875" b="0">
                          <a:solidFill>
                            <a:srgbClr val="132C39"/>
                          </a:solidFill>
                          <a:latin typeface="Arial"/>
                          <a:ea typeface="Arial"/>
                          <a:cs typeface="Arial"/>
                        </a:rPr>
                        <a:t>Purified enzyme</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Control of amount and</a:t>
                      </a:r>
                    </a:p>
                    <a:p>
                      <a:r>
                        <a:rPr sz="1875" b="0">
                          <a:solidFill>
                            <a:srgbClr val="132C39"/>
                          </a:solidFill>
                          <a:latin typeface="Arial"/>
                          <a:ea typeface="Arial"/>
                          <a:cs typeface="Arial"/>
                        </a:rPr>
                        <a:t>environment</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Recovery losses and extra</a:t>
                      </a:r>
                    </a:p>
                    <a:p>
                      <a:r>
                        <a:rPr sz="1875" b="0">
                          <a:solidFill>
                            <a:srgbClr val="132C39"/>
                          </a:solidFill>
                          <a:latin typeface="Arial"/>
                          <a:ea typeface="Arial"/>
                          <a:cs typeface="Arial"/>
                        </a:rPr>
                        <a:t>labor</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1569829225"/>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2716EF12-36F2-4927-A340-F6F2236A364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Essential laboratory capabilities</a:t>
            </a:r>
          </a:p>
        </p:txBody>
      </p:sp>
      <p:sp>
        <p:nvSpPr>
          <p:cNvPr id="2" name="text-1">
            <a:extLst xmlns:a="http://schemas.openxmlformats.org/drawingml/2006/main">
              <a:ext uri="{FF2B5EF4-FFF2-40B4-BE49-F238E27FC236}">
                <a16:creationId xmlns:a16="http://schemas.microsoft.com/office/drawing/2014/main" id="{2400C37C-7146-4C44-BA8A-CA4B1239DE68}"/>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07</a:t>
            </a:r>
          </a:p>
        </p:txBody>
      </p:sp>
      <p:graphicFrame>
        <p:nvGraphicFramePr>
          <p:cNvPr id="6" name=""/>
          <p:cNvGraphicFramePr/>
          <p:nvPr/>
        </p:nvGraphicFramePr>
        <p:xfrm>
          <a:off xmlns:a="http://schemas.openxmlformats.org/drawingml/2006/main" x="609600" y="1590675"/>
          <a:ext xmlns:a="http://schemas.openxmlformats.org/drawingml/2006/main" cx="10972800" cy="4171950"/>
        </p:xfrm>
        <a:graphic xmlns:a="http://schemas.openxmlformats.org/drawingml/2006/main">
          <a:graphicData uri="http://schemas.openxmlformats.org/drawingml/2006/table">
            <a:tbl>
              <a:tblPr firstRow="1" bandRow="0"/>
              <a:tblGrid>
                <a:gridCol w="3171825"/>
                <a:gridCol w="7800975"/>
              </a:tblGrid>
              <a:tr h="552450">
                <a:tc>
                  <a:txBody>
                    <a:bodyPr wrap="square">
                      <a:noAutofit/>
                    </a:bodyPr>
                    <a:lstStyle/>
                    <a:p>
                      <a:r>
                        <a:rPr sz="1875" b="1">
                          <a:solidFill>
                            <a:srgbClr val="FFFFFF"/>
                          </a:solidFill>
                          <a:latin typeface="Arial"/>
                          <a:ea typeface="Arial"/>
                          <a:cs typeface="Arial"/>
                        </a:rPr>
                        <a:t>Capability</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Initial provision</a:t>
                      </a:r>
                    </a:p>
                  </a:txBody>
                  <a:tcPr marL="133350" marR="133350" marT="57150" marB="57150" anchor="ctr">
                    <a:solidFill>
                      <a:srgbClr val="132C39"/>
                    </a:solidFill>
                  </a:tcPr>
                </a:tc>
              </a:tr>
              <a:tr h="723900">
                <a:tc>
                  <a:txBody>
                    <a:bodyPr wrap="square">
                      <a:noAutofit/>
                    </a:bodyPr>
                    <a:lstStyle/>
                    <a:p>
                      <a:r>
                        <a:rPr sz="1875" b="0">
                          <a:solidFill>
                            <a:srgbClr val="132C39"/>
                          </a:solidFill>
                          <a:latin typeface="Arial"/>
                          <a:ea typeface="Arial"/>
                          <a:cs typeface="Arial"/>
                        </a:rPr>
                        <a:t>Routine molecular</a:t>
                      </a:r>
                    </a:p>
                    <a:p>
                      <a:r>
                        <a:rPr sz="1875" b="0">
                          <a:solidFill>
                            <a:srgbClr val="132C39"/>
                          </a:solidFill>
                          <a:latin typeface="Arial"/>
                          <a:ea typeface="Arial"/>
                          <a:cs typeface="Arial"/>
                        </a:rPr>
                        <a:t>biology</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Standard laboratory equipment and established protocols</a:t>
                      </a:r>
                    </a:p>
                  </a:txBody>
                  <a:tcPr marL="133350" marR="133350" marT="57150" marB="57150" anchor="ctr">
                    <a:solidFill>
                      <a:srgbClr val="F7F7F2"/>
                    </a:solidFill>
                  </a:tcPr>
                </a:tc>
              </a:tr>
              <a:tr h="723900">
                <a:tc>
                  <a:txBody>
                    <a:bodyPr wrap="square">
                      <a:noAutofit/>
                    </a:bodyPr>
                    <a:lstStyle/>
                    <a:p>
                      <a:r>
                        <a:rPr sz="1875" b="0">
                          <a:solidFill>
                            <a:srgbClr val="132C39"/>
                          </a:solidFill>
                          <a:latin typeface="Arial"/>
                          <a:ea typeface="Arial"/>
                          <a:cs typeface="Arial"/>
                        </a:rPr>
                        <a:t>Plate preparation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Multichannel pipette, compatible shaker and centrifuge</a:t>
                      </a:r>
                    </a:p>
                    <a:p>
                      <a:r>
                        <a:rPr sz="1875" b="0">
                          <a:solidFill>
                            <a:srgbClr val="132C39"/>
                          </a:solidFill>
                          <a:latin typeface="Arial"/>
                          <a:ea typeface="Arial"/>
                          <a:cs typeface="Arial"/>
                        </a:rPr>
                        <a:t>carriers</a:t>
                      </a:r>
                    </a:p>
                  </a:txBody>
                  <a:tcPr marL="133350" marR="133350" marT="57150" marB="57150" anchor="ctr">
                    <a:solidFill>
                      <a:srgbClr val="F7F7F2"/>
                    </a:solidFill>
                  </a:tcPr>
                </a:tc>
              </a:tr>
              <a:tr h="723900">
                <a:tc>
                  <a:txBody>
                    <a:bodyPr wrap="square">
                      <a:noAutofit/>
                    </a:bodyPr>
                    <a:lstStyle/>
                    <a:p>
                      <a:r>
                        <a:rPr sz="1875" b="0">
                          <a:solidFill>
                            <a:srgbClr val="132C39"/>
                          </a:solidFill>
                          <a:latin typeface="Arial"/>
                          <a:ea typeface="Arial"/>
                          <a:cs typeface="Arial"/>
                        </a:rPr>
                        <a:t>Activity measurement</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Reader matching wavelength, timing, temperature and plate</a:t>
                      </a:r>
                    </a:p>
                    <a:p>
                      <a:r>
                        <a:rPr sz="1875" b="0">
                          <a:solidFill>
                            <a:srgbClr val="132C39"/>
                          </a:solidFill>
                          <a:latin typeface="Arial"/>
                          <a:ea typeface="Arial"/>
                          <a:cs typeface="Arial"/>
                        </a:rPr>
                        <a:t>format</a:t>
                      </a:r>
                    </a:p>
                  </a:txBody>
                  <a:tcPr marL="133350" marR="133350" marT="57150" marB="57150" anchor="ctr">
                    <a:solidFill>
                      <a:srgbClr val="F7F7F2"/>
                    </a:solidFill>
                  </a:tcPr>
                </a:tc>
              </a:tr>
              <a:tr h="723900">
                <a:tc>
                  <a:txBody>
                    <a:bodyPr wrap="square">
                      <a:noAutofit/>
                    </a:bodyPr>
                    <a:lstStyle/>
                    <a:p>
                      <a:r>
                        <a:rPr sz="1875" b="0">
                          <a:solidFill>
                            <a:srgbClr val="132C39"/>
                          </a:solidFill>
                          <a:latin typeface="Arial"/>
                          <a:ea typeface="Arial"/>
                          <a:cs typeface="Arial"/>
                        </a:rPr>
                        <a:t>Confirmation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Sequencing, protein preparation and product-analysis</a:t>
                      </a:r>
                    </a:p>
                    <a:p>
                      <a:r>
                        <a:rPr sz="1875" b="0">
                          <a:solidFill>
                            <a:srgbClr val="132C39"/>
                          </a:solidFill>
                          <a:latin typeface="Arial"/>
                          <a:ea typeface="Arial"/>
                          <a:cs typeface="Arial"/>
                        </a:rPr>
                        <a:t>access</a:t>
                      </a:r>
                    </a:p>
                  </a:txBody>
                  <a:tcPr marL="133350" marR="133350" marT="57150" marB="57150" anchor="ctr">
                    <a:solidFill>
                      <a:srgbClr val="F7F7F2"/>
                    </a:solidFill>
                  </a:tcPr>
                </a:tc>
              </a:tr>
              <a:tr h="723900">
                <a:tc>
                  <a:txBody>
                    <a:bodyPr wrap="square">
                      <a:noAutofit/>
                    </a:bodyPr>
                    <a:lstStyle/>
                    <a:p>
                      <a:r>
                        <a:rPr sz="1875" b="0">
                          <a:solidFill>
                            <a:srgbClr val="132C39"/>
                          </a:solidFill>
                          <a:latin typeface="Arial"/>
                          <a:ea typeface="Arial"/>
                          <a:cs typeface="Arial"/>
                        </a:rPr>
                        <a:t>Sample continuity</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Retained source stocks, clear labels and digital inventory</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452280304"/>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6A4EADD-9473-41B3-BA83-E394A79EFDD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Plate-reader acceptance checks</a:t>
            </a:r>
          </a:p>
        </p:txBody>
      </p:sp>
      <p:sp>
        <p:nvSpPr>
          <p:cNvPr id="2" name="text-1">
            <a:extLst xmlns:a="http://schemas.openxmlformats.org/drawingml/2006/main">
              <a:ext uri="{FF2B5EF4-FFF2-40B4-BE49-F238E27FC236}">
                <a16:creationId xmlns:a16="http://schemas.microsoft.com/office/drawing/2014/main" id="{A53584DC-043A-4134-A04D-DE6D6309F3E0}"/>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08</a:t>
            </a:r>
          </a:p>
        </p:txBody>
      </p:sp>
      <p:sp>
        <p:nvSpPr>
          <p:cNvPr id="3" name="text-2">
            <a:extLst xmlns:a="http://schemas.openxmlformats.org/drawingml/2006/main">
              <a:ext uri="{FF2B5EF4-FFF2-40B4-BE49-F238E27FC236}">
                <a16:creationId xmlns:a16="http://schemas.microsoft.com/office/drawing/2014/main" id="{7F1D9CCC-4628-4707-81A7-8893D5F5381B}"/>
              </a:ext>
            </a:extLst>
          </p:cNvPr>
          <p:cNvSpPr>
            <a:spLocks xmlns:a="http://schemas.openxmlformats.org/drawingml/2006/main" noGrp="1"/>
          </p:cNvSpPr>
          <p:nvPr/>
        </p:nvSpPr>
        <p:spPr>
          <a:xfrm xmlns:a="http://schemas.openxmlformats.org/drawingml/2006/main">
            <a:off x="609600" y="1657350"/>
            <a:ext cx="281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Optics and plates</a:t>
            </a:r>
          </a:p>
        </p:txBody>
      </p:sp>
      <p:sp>
        <p:nvSpPr>
          <p:cNvPr id="4" name="text-3">
            <a:extLst xmlns:a="http://schemas.openxmlformats.org/drawingml/2006/main">
              <a:ext uri="{FF2B5EF4-FFF2-40B4-BE49-F238E27FC236}">
                <a16:creationId xmlns:a16="http://schemas.microsoft.com/office/drawing/2014/main" id="{3DCD2D8C-6BEF-4F1E-8C4A-BAD555A4AABD}"/>
              </a:ext>
            </a:extLst>
          </p:cNvPr>
          <p:cNvSpPr>
            <a:spLocks xmlns:a="http://schemas.openxmlformats.org/drawingml/2006/main" noGrp="1"/>
          </p:cNvSpPr>
          <p:nvPr/>
        </p:nvSpPr>
        <p:spPr>
          <a:xfrm xmlns:a="http://schemas.openxmlformats.org/drawingml/2006/main">
            <a:off x="3638550" y="1657350"/>
            <a:ext cx="7943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C39"/>
                </a:solidFill>
                <a:latin typeface="Arial"/>
                <a:ea typeface="Arial"/>
                <a:cs typeface="Arial"/>
              </a:defRPr>
            </a:pPr>
            <a:r>
              <a:rPr sz="2100" b="0">
                <a:solidFill>
                  <a:srgbClr val="132C39"/>
                </a:solidFill>
                <a:latin typeface="Arial"/>
                <a:ea typeface="Arial"/>
                <a:cs typeface="Arial"/>
              </a:rPr>
              <a:t>Actual wavelengths, read mode, plate transmission and signal range.</a:t>
            </a:r>
          </a:p>
        </p:txBody>
      </p:sp>
      <p:sp>
        <p:nvSpPr>
          <p:cNvPr id="5" name="text-4">
            <a:extLst xmlns:a="http://schemas.openxmlformats.org/drawingml/2006/main">
              <a:ext uri="{FF2B5EF4-FFF2-40B4-BE49-F238E27FC236}">
                <a16:creationId xmlns:a16="http://schemas.microsoft.com/office/drawing/2014/main" id="{AFD9D49E-6980-4979-86CA-B4C74E649CDF}"/>
              </a:ext>
            </a:extLst>
          </p:cNvPr>
          <p:cNvSpPr>
            <a:spLocks xmlns:a="http://schemas.openxmlformats.org/drawingml/2006/main" noGrp="1"/>
          </p:cNvSpPr>
          <p:nvPr/>
        </p:nvSpPr>
        <p:spPr>
          <a:xfrm xmlns:a="http://schemas.openxmlformats.org/drawingml/2006/main">
            <a:off x="609600" y="2705100"/>
            <a:ext cx="281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Reaction timing</a:t>
            </a:r>
          </a:p>
        </p:txBody>
      </p:sp>
      <p:sp>
        <p:nvSpPr>
          <p:cNvPr id="6" name="text-5">
            <a:extLst xmlns:a="http://schemas.openxmlformats.org/drawingml/2006/main">
              <a:ext uri="{FF2B5EF4-FFF2-40B4-BE49-F238E27FC236}">
                <a16:creationId xmlns:a16="http://schemas.microsoft.com/office/drawing/2014/main" id="{FCD9BA41-EAFD-472A-B8D5-7035A3E1B18A}"/>
              </a:ext>
            </a:extLst>
          </p:cNvPr>
          <p:cNvSpPr>
            <a:spLocks xmlns:a="http://schemas.openxmlformats.org/drawingml/2006/main" noGrp="1"/>
          </p:cNvSpPr>
          <p:nvPr/>
        </p:nvSpPr>
        <p:spPr>
          <a:xfrm xmlns:a="http://schemas.openxmlformats.org/drawingml/2006/main">
            <a:off x="3638550" y="2705100"/>
            <a:ext cx="7943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C39"/>
                </a:solidFill>
                <a:latin typeface="Arial"/>
                <a:ea typeface="Arial"/>
                <a:cs typeface="Arial"/>
              </a:defRPr>
            </a:pPr>
            <a:r>
              <a:rPr sz="2100" b="0">
                <a:solidFill>
                  <a:srgbClr val="132C39"/>
                </a:solidFill>
                <a:latin typeface="Arial"/>
                <a:ea typeface="Arial"/>
                <a:cs typeface="Arial"/>
              </a:rPr>
              <a:t>Addition delays, full-plate read time and a useful kinetic window.</a:t>
            </a:r>
          </a:p>
        </p:txBody>
      </p:sp>
      <p:sp>
        <p:nvSpPr>
          <p:cNvPr id="7" name="text-6">
            <a:extLst xmlns:a="http://schemas.openxmlformats.org/drawingml/2006/main">
              <a:ext uri="{FF2B5EF4-FFF2-40B4-BE49-F238E27FC236}">
                <a16:creationId xmlns:a16="http://schemas.microsoft.com/office/drawing/2014/main" id="{0C431368-8A75-4F22-8E0C-0E32B84BAE3A}"/>
              </a:ext>
            </a:extLst>
          </p:cNvPr>
          <p:cNvSpPr>
            <a:spLocks xmlns:a="http://schemas.openxmlformats.org/drawingml/2006/main" noGrp="1"/>
          </p:cNvSpPr>
          <p:nvPr/>
        </p:nvSpPr>
        <p:spPr>
          <a:xfrm xmlns:a="http://schemas.openxmlformats.org/drawingml/2006/main">
            <a:off x="609600" y="3752850"/>
            <a:ext cx="281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Physical conditions</a:t>
            </a:r>
          </a:p>
        </p:txBody>
      </p:sp>
      <p:sp>
        <p:nvSpPr>
          <p:cNvPr id="8" name="text-7">
            <a:extLst xmlns:a="http://schemas.openxmlformats.org/drawingml/2006/main">
              <a:ext uri="{FF2B5EF4-FFF2-40B4-BE49-F238E27FC236}">
                <a16:creationId xmlns:a16="http://schemas.microsoft.com/office/drawing/2014/main" id="{4EF1DD65-198C-4172-AB88-2C143D90F3BE}"/>
              </a:ext>
            </a:extLst>
          </p:cNvPr>
          <p:cNvSpPr>
            <a:spLocks xmlns:a="http://schemas.openxmlformats.org/drawingml/2006/main" noGrp="1"/>
          </p:cNvSpPr>
          <p:nvPr/>
        </p:nvSpPr>
        <p:spPr>
          <a:xfrm xmlns:a="http://schemas.openxmlformats.org/drawingml/2006/main">
            <a:off x="3638550" y="3752850"/>
            <a:ext cx="7943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C39"/>
                </a:solidFill>
                <a:latin typeface="Arial"/>
                <a:ea typeface="Arial"/>
                <a:cs typeface="Arial"/>
              </a:defRPr>
            </a:pPr>
            <a:r>
              <a:rPr sz="2100" b="0">
                <a:solidFill>
                  <a:srgbClr val="132C39"/>
                </a:solidFill>
                <a:latin typeface="Arial"/>
                <a:ea typeface="Arial"/>
                <a:cs typeface="Arial"/>
              </a:rPr>
              <a:t>Temperature behavior, mixing, bubbles and sample settling.</a:t>
            </a:r>
          </a:p>
        </p:txBody>
      </p:sp>
      <p:sp>
        <p:nvSpPr>
          <p:cNvPr id="9" name="text-8">
            <a:extLst xmlns:a="http://schemas.openxmlformats.org/drawingml/2006/main">
              <a:ext uri="{FF2B5EF4-FFF2-40B4-BE49-F238E27FC236}">
                <a16:creationId xmlns:a16="http://schemas.microsoft.com/office/drawing/2014/main" id="{03E5026E-27D8-44E0-8E08-BD99DBDED25D}"/>
              </a:ext>
            </a:extLst>
          </p:cNvPr>
          <p:cNvSpPr>
            <a:spLocks xmlns:a="http://schemas.openxmlformats.org/drawingml/2006/main" noGrp="1"/>
          </p:cNvSpPr>
          <p:nvPr/>
        </p:nvSpPr>
        <p:spPr>
          <a:xfrm xmlns:a="http://schemas.openxmlformats.org/drawingml/2006/main">
            <a:off x="609600" y="4800600"/>
            <a:ext cx="281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Data and support</a:t>
            </a:r>
          </a:p>
        </p:txBody>
      </p:sp>
      <p:sp>
        <p:nvSpPr>
          <p:cNvPr id="10" name="text-9">
            <a:extLst xmlns:a="http://schemas.openxmlformats.org/drawingml/2006/main">
              <a:ext uri="{FF2B5EF4-FFF2-40B4-BE49-F238E27FC236}">
                <a16:creationId xmlns:a16="http://schemas.microsoft.com/office/drawing/2014/main" id="{F5ABF7EC-E169-40C9-82FE-4061A5A14F23}"/>
              </a:ext>
            </a:extLst>
          </p:cNvPr>
          <p:cNvSpPr>
            <a:spLocks xmlns:a="http://schemas.openxmlformats.org/drawingml/2006/main" noGrp="1"/>
          </p:cNvSpPr>
          <p:nvPr/>
        </p:nvSpPr>
        <p:spPr>
          <a:xfrm xmlns:a="http://schemas.openxmlformats.org/drawingml/2006/main">
            <a:off x="3638550" y="4800600"/>
            <a:ext cx="7943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C39"/>
                </a:solidFill>
                <a:latin typeface="Arial"/>
                <a:ea typeface="Arial"/>
                <a:cs typeface="Arial"/>
              </a:defRPr>
            </a:pPr>
            <a:r>
              <a:rPr sz="2100" b="0">
                <a:solidFill>
                  <a:srgbClr val="132C39"/>
                </a:solidFill>
                <a:latin typeface="Arial"/>
                <a:ea typeface="Arial"/>
                <a:cs typeface="Arial"/>
              </a:rPr>
              <a:t>Raw well-level export, timestamps, supported software and repair access.</a:t>
            </a:r>
          </a:p>
        </p:txBody>
      </p:sp>
    </p:spTree>
    <p:extLst>
      <p:ext uri="{BB962C8B-B14F-4D97-AF65-F5344CB8AC3E}">
        <p14:creationId xmlns:p14="http://schemas.microsoft.com/office/powerpoint/2010/main" val="1407893800"/>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1F86001-73BA-4C86-AB82-EDAD114F839F}"/>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A small software stack</a:t>
            </a:r>
          </a:p>
        </p:txBody>
      </p:sp>
      <p:sp>
        <p:nvSpPr>
          <p:cNvPr id="2" name="text-1">
            <a:extLst xmlns:a="http://schemas.openxmlformats.org/drawingml/2006/main">
              <a:ext uri="{FF2B5EF4-FFF2-40B4-BE49-F238E27FC236}">
                <a16:creationId xmlns:a16="http://schemas.microsoft.com/office/drawing/2014/main" id="{458B04FE-7600-4007-A15B-F46CE8207BAA}"/>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09</a:t>
            </a:r>
          </a:p>
        </p:txBody>
      </p:sp>
      <p:sp>
        <p:nvSpPr>
          <p:cNvPr id="3" name="text-2">
            <a:extLst xmlns:a="http://schemas.openxmlformats.org/drawingml/2006/main">
              <a:ext uri="{FF2B5EF4-FFF2-40B4-BE49-F238E27FC236}">
                <a16:creationId xmlns:a16="http://schemas.microsoft.com/office/drawing/2014/main" id="{55018465-9151-4E43-9ABB-51E0532FE343}"/>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Clone ID links the sequence, preparation, plate position, measurement and physical stock.</a:t>
            </a:r>
          </a:p>
        </p:txBody>
      </p:sp>
      <p:graphicFrame>
        <p:nvGraphicFramePr>
          <p:cNvPr id="8" name=""/>
          <p:cNvGraphicFramePr/>
          <p:nvPr/>
        </p:nvGraphicFramePr>
        <p:xfrm>
          <a:off xmlns:a="http://schemas.openxmlformats.org/drawingml/2006/main" x="609600" y="1590675"/>
          <a:ext xmlns:a="http://schemas.openxmlformats.org/drawingml/2006/main" cx="10972800" cy="4114800"/>
        </p:xfrm>
        <a:graphic xmlns:a="http://schemas.openxmlformats.org/drawingml/2006/main">
          <a:graphicData uri="http://schemas.openxmlformats.org/drawingml/2006/table">
            <a:tbl>
              <a:tblPr firstRow="1" bandRow="0"/>
              <a:tblGrid>
                <a:gridCol w="2914650"/>
                <a:gridCol w="3943350"/>
                <a:gridCol w="4114800"/>
              </a:tblGrid>
              <a:tr h="552450">
                <a:tc>
                  <a:txBody>
                    <a:bodyPr wrap="square">
                      <a:noAutofit/>
                    </a:bodyPr>
                    <a:lstStyle/>
                    <a:p>
                      <a:r>
                        <a:rPr sz="1800" b="1">
                          <a:solidFill>
                            <a:srgbClr val="FFFFFF"/>
                          </a:solidFill>
                          <a:latin typeface="Arial"/>
                          <a:ea typeface="Arial"/>
                          <a:cs typeface="Arial"/>
                        </a:rPr>
                        <a:t>Task</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Starting software</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Retained output</a:t>
                      </a:r>
                    </a:p>
                  </a:txBody>
                  <a:tcPr marL="133350" marR="133350" marT="57150" marB="57150" anchor="ctr">
                    <a:solidFill>
                      <a:srgbClr val="132C39"/>
                    </a:solidFill>
                  </a:tcPr>
                </a:tc>
              </a:tr>
              <a:tr h="890588">
                <a:tc>
                  <a:txBody>
                    <a:bodyPr wrap="square">
                      <a:noAutofit/>
                    </a:bodyPr>
                    <a:lstStyle/>
                    <a:p>
                      <a:r>
                        <a:rPr sz="1800" b="0">
                          <a:solidFill>
                            <a:srgbClr val="132C39"/>
                          </a:solidFill>
                          <a:latin typeface="Arial"/>
                          <a:ea typeface="Arial"/>
                          <a:cs typeface="Arial"/>
                        </a:rPr>
                        <a:t>Sequence and primer</a:t>
                      </a:r>
                    </a:p>
                    <a:p>
                      <a:r>
                        <a:rPr sz="1800" b="0">
                          <a:solidFill>
                            <a:srgbClr val="132C39"/>
                          </a:solidFill>
                          <a:latin typeface="Arial"/>
                          <a:ea typeface="Arial"/>
                          <a:cs typeface="Arial"/>
                        </a:rPr>
                        <a:t>work</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ApE and method-matched design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Annotated sequence and primer</a:t>
                      </a:r>
                    </a:p>
                    <a:p>
                      <a:r>
                        <a:rPr sz="1800" b="0">
                          <a:solidFill>
                            <a:srgbClr val="132C39"/>
                          </a:solidFill>
                          <a:latin typeface="Arial"/>
                          <a:ea typeface="Arial"/>
                          <a:cs typeface="Arial"/>
                        </a:rPr>
                        <a:t>record</a:t>
                      </a:r>
                    </a:p>
                  </a:txBody>
                  <a:tcPr marL="133350" marR="133350" marT="57150" marB="57150" anchor="ctr">
                    <a:solidFill>
                      <a:srgbClr val="F7F7F2"/>
                    </a:solidFill>
                  </a:tcPr>
                </a:tc>
              </a:tr>
              <a:tr h="890588">
                <a:tc>
                  <a:txBody>
                    <a:bodyPr wrap="square">
                      <a:noAutofit/>
                    </a:bodyPr>
                    <a:lstStyle/>
                    <a:p>
                      <a:r>
                        <a:rPr sz="1800" b="0">
                          <a:solidFill>
                            <a:srgbClr val="132C39"/>
                          </a:solidFill>
                          <a:latin typeface="Arial"/>
                          <a:ea typeface="Arial"/>
                          <a:cs typeface="Arial"/>
                        </a:rPr>
                        <a:t>Tracking and planning</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Calc or existing spreadsheet</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Plate map, clone register and</a:t>
                      </a:r>
                    </a:p>
                    <a:p>
                      <a:r>
                        <a:rPr sz="1800" b="0">
                          <a:solidFill>
                            <a:srgbClr val="132C39"/>
                          </a:solidFill>
                          <a:latin typeface="Arial"/>
                          <a:ea typeface="Arial"/>
                          <a:cs typeface="Arial"/>
                        </a:rPr>
                        <a:t>budget</a:t>
                      </a:r>
                    </a:p>
                  </a:txBody>
                  <a:tcPr marL="133350" marR="133350" marT="57150" marB="57150" anchor="ctr">
                    <a:solidFill>
                      <a:srgbClr val="F7F7F2"/>
                    </a:solidFill>
                  </a:tcPr>
                </a:tc>
              </a:tr>
              <a:tr h="890588">
                <a:tc>
                  <a:txBody>
                    <a:bodyPr wrap="square">
                      <a:noAutofit/>
                    </a:bodyPr>
                    <a:lstStyle/>
                    <a:p>
                      <a:r>
                        <a:rPr sz="1800" b="0">
                          <a:solidFill>
                            <a:srgbClr val="132C39"/>
                          </a:solidFill>
                          <a:latin typeface="Arial"/>
                          <a:ea typeface="Arial"/>
                          <a:cs typeface="Arial"/>
                        </a:rPr>
                        <a:t>Acquisition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Supported instrument software</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Raw measurements and method</a:t>
                      </a:r>
                    </a:p>
                    <a:p>
                      <a:r>
                        <a:rPr sz="1800" b="0">
                          <a:solidFill>
                            <a:srgbClr val="132C39"/>
                          </a:solidFill>
                          <a:latin typeface="Arial"/>
                          <a:ea typeface="Arial"/>
                          <a:cs typeface="Arial"/>
                        </a:rPr>
                        <a:t>settings</a:t>
                      </a:r>
                    </a:p>
                  </a:txBody>
                  <a:tcPr marL="133350" marR="133350" marT="57150" marB="57150" anchor="ctr">
                    <a:solidFill>
                      <a:srgbClr val="F7F7F2"/>
                    </a:solidFill>
                  </a:tcPr>
                </a:tc>
              </a:tr>
              <a:tr h="890588">
                <a:tc>
                  <a:txBody>
                    <a:bodyPr wrap="square">
                      <a:noAutofit/>
                    </a:bodyPr>
                    <a:lstStyle/>
                    <a:p>
                      <a:r>
                        <a:rPr sz="1800" b="0">
                          <a:solidFill>
                            <a:srgbClr val="132C39"/>
                          </a:solidFill>
                          <a:latin typeface="Arial"/>
                          <a:ea typeface="Arial"/>
                          <a:cs typeface="Arial"/>
                        </a:rPr>
                        <a:t>Analysis</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Supplied Python workflow</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Quality flags, candidate</a:t>
                      </a:r>
                    </a:p>
                    <a:p>
                      <a:r>
                        <a:rPr sz="1800" b="0">
                          <a:solidFill>
                            <a:srgbClr val="132C39"/>
                          </a:solidFill>
                          <a:latin typeface="Arial"/>
                          <a:ea typeface="Arial"/>
                          <a:cs typeface="Arial"/>
                        </a:rPr>
                        <a:t>report and plots</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58668948"/>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391414F-2AD4-4D61-B84B-A9EB62DFB6F1}"/>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Three laboratory configurations</a:t>
            </a:r>
          </a:p>
        </p:txBody>
      </p:sp>
      <p:sp>
        <p:nvSpPr>
          <p:cNvPr id="2" name="text-1">
            <a:extLst xmlns:a="http://schemas.openxmlformats.org/drawingml/2006/main">
              <a:ext uri="{FF2B5EF4-FFF2-40B4-BE49-F238E27FC236}">
                <a16:creationId xmlns:a16="http://schemas.microsoft.com/office/drawing/2014/main" id="{5C1EFE58-A596-4CEA-A002-5F59107966FA}"/>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10</a:t>
            </a:r>
          </a:p>
        </p:txBody>
      </p:sp>
      <p:graphicFrame>
        <p:nvGraphicFramePr>
          <p:cNvPr id="7" name=""/>
          <p:cNvGraphicFramePr/>
          <p:nvPr/>
        </p:nvGraphicFramePr>
        <p:xfrm>
          <a:off xmlns:a="http://schemas.openxmlformats.org/drawingml/2006/main" x="609600" y="1590675"/>
          <a:ext xmlns:a="http://schemas.openxmlformats.org/drawingml/2006/main" cx="10972800" cy="3629025"/>
        </p:xfrm>
        <a:graphic xmlns:a="http://schemas.openxmlformats.org/drawingml/2006/main">
          <a:graphicData uri="http://schemas.openxmlformats.org/drawingml/2006/table">
            <a:tbl>
              <a:tblPr firstRow="1" bandRow="0"/>
              <a:tblGrid>
                <a:gridCol w="2809875"/>
                <a:gridCol w="5067300"/>
                <a:gridCol w="3095625"/>
              </a:tblGrid>
              <a:tr h="552450">
                <a:tc>
                  <a:txBody>
                    <a:bodyPr wrap="square">
                      <a:noAutofit/>
                    </a:bodyPr>
                    <a:lstStyle/>
                    <a:p>
                      <a:r>
                        <a:rPr sz="1875" b="1">
                          <a:solidFill>
                            <a:srgbClr val="FFFFFF"/>
                          </a:solidFill>
                          <a:latin typeface="Arial"/>
                          <a:ea typeface="Arial"/>
                          <a:cs typeface="Arial"/>
                        </a:rPr>
                        <a:t>Configuration</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Core arrangement</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Appropriate stage</a:t>
                      </a:r>
                    </a:p>
                  </a:txBody>
                  <a:tcPr marL="133350" marR="133350" marT="57150" marB="57150" anchor="ctr">
                    <a:solidFill>
                      <a:srgbClr val="132C39"/>
                    </a:solidFill>
                  </a:tcPr>
                </a:tc>
              </a:tr>
              <a:tr h="1025525">
                <a:tc>
                  <a:txBody>
                    <a:bodyPr wrap="square">
                      <a:noAutofit/>
                    </a:bodyPr>
                    <a:lstStyle/>
                    <a:p>
                      <a:r>
                        <a:rPr sz="1875" b="0">
                          <a:solidFill>
                            <a:srgbClr val="132C39"/>
                          </a:solidFill>
                          <a:latin typeface="Arial"/>
                          <a:ea typeface="Arial"/>
                          <a:cs typeface="Arial"/>
                        </a:rPr>
                        <a:t>Shared laboratory</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Manual handling, booked reader,</a:t>
                      </a:r>
                    </a:p>
                    <a:p>
                      <a:r>
                        <a:rPr sz="1875" b="0">
                          <a:solidFill>
                            <a:srgbClr val="132C39"/>
                          </a:solidFill>
                          <a:latin typeface="Arial"/>
                          <a:ea typeface="Arial"/>
                          <a:cs typeface="Arial"/>
                        </a:rPr>
                        <a:t>external confirmation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Parent assay and</a:t>
                      </a:r>
                    </a:p>
                    <a:p>
                      <a:r>
                        <a:rPr sz="1875" b="0">
                          <a:solidFill>
                            <a:srgbClr val="132C39"/>
                          </a:solidFill>
                          <a:latin typeface="Arial"/>
                          <a:ea typeface="Arial"/>
                          <a:cs typeface="Arial"/>
                        </a:rPr>
                        <a:t>tracking pilot</a:t>
                      </a:r>
                    </a:p>
                  </a:txBody>
                  <a:tcPr marL="133350" marR="133350" marT="57150" marB="57150" anchor="ctr">
                    <a:solidFill>
                      <a:srgbClr val="F7F7F2"/>
                    </a:solidFill>
                  </a:tcPr>
                </a:tc>
              </a:tr>
              <a:tr h="1025525">
                <a:tc>
                  <a:txBody>
                    <a:bodyPr wrap="square">
                      <a:noAutofit/>
                    </a:bodyPr>
                    <a:lstStyle/>
                    <a:p>
                      <a:r>
                        <a:rPr sz="1875" b="0">
                          <a:solidFill>
                            <a:srgbClr val="132C39"/>
                          </a:solidFill>
                          <a:latin typeface="Arial"/>
                          <a:ea typeface="Arial"/>
                          <a:cs typeface="Arial"/>
                        </a:rPr>
                        <a:t>Dedicated manual</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Plate preparation, regular reader</a:t>
                      </a:r>
                    </a:p>
                    <a:p>
                      <a:r>
                        <a:rPr sz="1875" b="0">
                          <a:solidFill>
                            <a:srgbClr val="132C39"/>
                          </a:solidFill>
                          <a:latin typeface="Arial"/>
                          <a:ea typeface="Arial"/>
                          <a:cs typeface="Arial"/>
                        </a:rPr>
                        <a:t>capacity, batch analysis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Stable assay and</a:t>
                      </a:r>
                    </a:p>
                    <a:p>
                      <a:r>
                        <a:rPr sz="1875" b="0">
                          <a:solidFill>
                            <a:srgbClr val="132C39"/>
                          </a:solidFill>
                          <a:latin typeface="Arial"/>
                          <a:ea typeface="Arial"/>
                          <a:cs typeface="Arial"/>
                        </a:rPr>
                        <a:t>recurring campaigns</a:t>
                      </a:r>
                    </a:p>
                  </a:txBody>
                  <a:tcPr marL="133350" marR="133350" marT="57150" marB="57150" anchor="ctr">
                    <a:solidFill>
                      <a:srgbClr val="F7F7F2"/>
                    </a:solidFill>
                  </a:tcPr>
                </a:tc>
              </a:tr>
              <a:tr h="1025525">
                <a:tc>
                  <a:txBody>
                    <a:bodyPr wrap="square">
                      <a:noAutofit/>
                    </a:bodyPr>
                    <a:lstStyle/>
                    <a:p>
                      <a:r>
                        <a:rPr sz="1875" b="0">
                          <a:solidFill>
                            <a:srgbClr val="132C39"/>
                          </a:solidFill>
                          <a:latin typeface="Arial"/>
                          <a:ea typeface="Arial"/>
                          <a:cs typeface="Arial"/>
                        </a:rPr>
                        <a:t>Partly automated</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Validated transfers, integration and</a:t>
                      </a:r>
                    </a:p>
                    <a:p>
                      <a:r>
                        <a:rPr sz="1875" b="0">
                          <a:solidFill>
                            <a:srgbClr val="132C39"/>
                          </a:solidFill>
                          <a:latin typeface="Arial"/>
                          <a:ea typeface="Arial"/>
                          <a:cs typeface="Arial"/>
                        </a:rPr>
                        <a:t>recovery after interruption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A measured repetitive</a:t>
                      </a:r>
                    </a:p>
                    <a:p>
                      <a:r>
                        <a:rPr sz="1875" b="0">
                          <a:solidFill>
                            <a:srgbClr val="132C39"/>
                          </a:solidFill>
                          <a:latin typeface="Arial"/>
                          <a:ea typeface="Arial"/>
                          <a:cs typeface="Arial"/>
                        </a:rPr>
                        <a:t>bottleneck</a:t>
                      </a:r>
                    </a:p>
                  </a:txBody>
                  <a:tcPr marL="133350" marR="133350" marT="57150" marB="57150" anchor="ctr">
                    <a:solidFill>
                      <a:srgbClr val="F7F7F2"/>
                    </a:solidFill>
                  </a:tcPr>
                </a:tc>
              </a:tr>
            </a:tbl>
          </a:graphicData>
        </a:graphic>
      </p:graphicFrame>
      <p:sp>
        <p:nvSpPr>
          <p:cNvPr id="4" name="text-2">
            <a:extLst xmlns:a="http://schemas.openxmlformats.org/drawingml/2006/main">
              <a:ext uri="{FF2B5EF4-FFF2-40B4-BE49-F238E27FC236}">
                <a16:creationId xmlns:a16="http://schemas.microsoft.com/office/drawing/2014/main" id="{5214CF42-8F56-4A1F-B743-5C2CE74D149C}"/>
              </a:ext>
            </a:extLst>
          </p:cNvPr>
          <p:cNvSpPr>
            <a:spLocks xmlns:a="http://schemas.openxmlformats.org/drawingml/2006/main" noGrp="1"/>
          </p:cNvSpPr>
          <p:nvPr/>
        </p:nvSpPr>
        <p:spPr>
          <a:xfrm xmlns:a="http://schemas.openxmlformats.org/drawingml/2006/main">
            <a:off x="609600" y="56483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Equipment compatibility and confirmation capacity determine useful throughput.</a:t>
            </a:r>
          </a:p>
        </p:txBody>
      </p:sp>
    </p:spTree>
    <p:extLst>
      <p:ext uri="{BB962C8B-B14F-4D97-AF65-F5344CB8AC3E}">
        <p14:creationId xmlns:p14="http://schemas.microsoft.com/office/powerpoint/2010/main" val="1191715886"/>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5667DC1-5A57-4276-992C-4E24FA67F652}"/>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Assay quality before screening</a:t>
            </a:r>
          </a:p>
        </p:txBody>
      </p:sp>
      <p:sp>
        <p:nvSpPr>
          <p:cNvPr id="2" name="text-1">
            <a:extLst xmlns:a="http://schemas.openxmlformats.org/drawingml/2006/main">
              <a:ext uri="{FF2B5EF4-FFF2-40B4-BE49-F238E27FC236}">
                <a16:creationId xmlns:a16="http://schemas.microsoft.com/office/drawing/2014/main" id="{6BF361AD-C04D-43C2-9AF8-02E1384DCD30}"/>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11</a:t>
            </a:r>
          </a:p>
        </p:txBody>
      </p:sp>
      <p:sp>
        <p:nvSpPr>
          <p:cNvPr id="3" name="text-2">
            <a:extLst xmlns:a="http://schemas.openxmlformats.org/drawingml/2006/main">
              <a:ext uri="{FF2B5EF4-FFF2-40B4-BE49-F238E27FC236}">
                <a16:creationId xmlns:a16="http://schemas.microsoft.com/office/drawing/2014/main" id="{B321BB43-6088-43FE-BB24-3F7375200541}"/>
              </a:ext>
            </a:extLst>
          </p:cNvPr>
          <p:cNvSpPr>
            <a:spLocks xmlns:a="http://schemas.openxmlformats.org/drawingml/2006/main" noGrp="1"/>
          </p:cNvSpPr>
          <p:nvPr/>
        </p:nvSpPr>
        <p:spPr>
          <a:xfrm xmlns:a="http://schemas.openxmlformats.org/drawingml/2006/main">
            <a:off x="609600" y="1695450"/>
            <a:ext cx="2590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Useful signal</a:t>
            </a:r>
          </a:p>
        </p:txBody>
      </p:sp>
      <p:sp>
        <p:nvSpPr>
          <p:cNvPr id="4" name="text-3">
            <a:extLst xmlns:a="http://schemas.openxmlformats.org/drawingml/2006/main">
              <a:ext uri="{FF2B5EF4-FFF2-40B4-BE49-F238E27FC236}">
                <a16:creationId xmlns:a16="http://schemas.microsoft.com/office/drawing/2014/main" id="{4982B1F8-1078-4D02-8D15-26D7732CBCF2}"/>
              </a:ext>
            </a:extLst>
          </p:cNvPr>
          <p:cNvSpPr>
            <a:spLocks xmlns:a="http://schemas.openxmlformats.org/drawingml/2006/main" noGrp="1"/>
          </p:cNvSpPr>
          <p:nvPr/>
        </p:nvSpPr>
        <p:spPr>
          <a:xfrm xmlns:a="http://schemas.openxmlformats.org/drawingml/2006/main">
            <a:off x="3409950" y="1695450"/>
            <a:ext cx="81724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C39"/>
                </a:solidFill>
                <a:latin typeface="Arial"/>
                <a:ea typeface="Arial"/>
                <a:cs typeface="Arial"/>
              </a:defRPr>
            </a:pPr>
            <a:r>
              <a:rPr sz="2100" b="0">
                <a:solidFill>
                  <a:srgbClr val="132C39"/>
                </a:solidFill>
                <a:latin typeface="Arial"/>
                <a:ea typeface="Arial"/>
                <a:cs typeface="Arial"/>
              </a:rPr>
              <a:t>Product standards and parent time courses establish a working range.</a:t>
            </a:r>
          </a:p>
        </p:txBody>
      </p:sp>
      <p:sp>
        <p:nvSpPr>
          <p:cNvPr id="5" name="text-4">
            <a:extLst xmlns:a="http://schemas.openxmlformats.org/drawingml/2006/main">
              <a:ext uri="{FF2B5EF4-FFF2-40B4-BE49-F238E27FC236}">
                <a16:creationId xmlns:a16="http://schemas.microsoft.com/office/drawing/2014/main" id="{0948FDF4-6845-46B0-BE63-5ABF1EA65E03}"/>
              </a:ext>
            </a:extLst>
          </p:cNvPr>
          <p:cNvSpPr>
            <a:spLocks xmlns:a="http://schemas.openxmlformats.org/drawingml/2006/main" noGrp="1"/>
          </p:cNvSpPr>
          <p:nvPr/>
        </p:nvSpPr>
        <p:spPr>
          <a:xfrm xmlns:a="http://schemas.openxmlformats.org/drawingml/2006/main">
            <a:off x="609600" y="2733675"/>
            <a:ext cx="2590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Matched controls</a:t>
            </a:r>
          </a:p>
        </p:txBody>
      </p:sp>
      <p:sp>
        <p:nvSpPr>
          <p:cNvPr id="6" name="text-5">
            <a:extLst xmlns:a="http://schemas.openxmlformats.org/drawingml/2006/main">
              <a:ext uri="{FF2B5EF4-FFF2-40B4-BE49-F238E27FC236}">
                <a16:creationId xmlns:a16="http://schemas.microsoft.com/office/drawing/2014/main" id="{F2D3057A-9F03-4762-A305-07010DDD5EB8}"/>
              </a:ext>
            </a:extLst>
          </p:cNvPr>
          <p:cNvSpPr>
            <a:spLocks xmlns:a="http://schemas.openxmlformats.org/drawingml/2006/main" noGrp="1"/>
          </p:cNvSpPr>
          <p:nvPr/>
        </p:nvSpPr>
        <p:spPr>
          <a:xfrm xmlns:a="http://schemas.openxmlformats.org/drawingml/2006/main">
            <a:off x="3409950" y="2733675"/>
            <a:ext cx="81724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C39"/>
                </a:solidFill>
                <a:latin typeface="Arial"/>
                <a:ea typeface="Arial"/>
                <a:cs typeface="Arial"/>
              </a:defRPr>
            </a:pPr>
            <a:r>
              <a:rPr sz="2100" b="0">
                <a:solidFill>
                  <a:srgbClr val="132C39"/>
                </a:solidFill>
                <a:latin typeface="Arial"/>
                <a:ea typeface="Arial"/>
                <a:cs typeface="Arial"/>
              </a:rPr>
              <a:t>Reagent blanks, host preparations and omission controls reveal background.</a:t>
            </a:r>
          </a:p>
        </p:txBody>
      </p:sp>
      <p:sp>
        <p:nvSpPr>
          <p:cNvPr id="7" name="text-6">
            <a:extLst xmlns:a="http://schemas.openxmlformats.org/drawingml/2006/main">
              <a:ext uri="{FF2B5EF4-FFF2-40B4-BE49-F238E27FC236}">
                <a16:creationId xmlns:a16="http://schemas.microsoft.com/office/drawing/2014/main" id="{1447ADBE-63D6-47AD-AE68-4D2C06B0AAE2}"/>
              </a:ext>
            </a:extLst>
          </p:cNvPr>
          <p:cNvSpPr>
            <a:spLocks xmlns:a="http://schemas.openxmlformats.org/drawingml/2006/main" noGrp="1"/>
          </p:cNvSpPr>
          <p:nvPr/>
        </p:nvSpPr>
        <p:spPr>
          <a:xfrm xmlns:a="http://schemas.openxmlformats.org/drawingml/2006/main">
            <a:off x="609600" y="3771900"/>
            <a:ext cx="2590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Reproducibility</a:t>
            </a:r>
          </a:p>
        </p:txBody>
      </p:sp>
      <p:sp>
        <p:nvSpPr>
          <p:cNvPr id="8" name="text-7">
            <a:extLst xmlns:a="http://schemas.openxmlformats.org/drawingml/2006/main">
              <a:ext uri="{FF2B5EF4-FFF2-40B4-BE49-F238E27FC236}">
                <a16:creationId xmlns:a16="http://schemas.microsoft.com/office/drawing/2014/main" id="{E365EE70-0626-42DD-AB45-BC552B4C508D}"/>
              </a:ext>
            </a:extLst>
          </p:cNvPr>
          <p:cNvSpPr>
            <a:spLocks xmlns:a="http://schemas.openxmlformats.org/drawingml/2006/main" noGrp="1"/>
          </p:cNvSpPr>
          <p:nvPr/>
        </p:nvSpPr>
        <p:spPr>
          <a:xfrm xmlns:a="http://schemas.openxmlformats.org/drawingml/2006/main">
            <a:off x="3409950" y="3771900"/>
            <a:ext cx="81724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C39"/>
                </a:solidFill>
                <a:latin typeface="Arial"/>
                <a:ea typeface="Arial"/>
                <a:cs typeface="Arial"/>
              </a:defRPr>
            </a:pPr>
            <a:r>
              <a:rPr sz="2100" b="0">
                <a:solidFill>
                  <a:srgbClr val="132C39"/>
                </a:solidFill>
                <a:latin typeface="Arial"/>
                <a:ea typeface="Arial"/>
                <a:cs typeface="Arial"/>
              </a:rPr>
              <a:t>Independent parent preparations show whether useful differences are resolvable.</a:t>
            </a:r>
          </a:p>
        </p:txBody>
      </p:sp>
      <p:sp>
        <p:nvSpPr>
          <p:cNvPr id="9" name="text-8">
            <a:extLst xmlns:a="http://schemas.openxmlformats.org/drawingml/2006/main">
              <a:ext uri="{FF2B5EF4-FFF2-40B4-BE49-F238E27FC236}">
                <a16:creationId xmlns:a16="http://schemas.microsoft.com/office/drawing/2014/main" id="{960780CC-9AE6-4E1D-8954-44ED8777F2CB}"/>
              </a:ext>
            </a:extLst>
          </p:cNvPr>
          <p:cNvSpPr>
            <a:spLocks xmlns:a="http://schemas.openxmlformats.org/drawingml/2006/main" noGrp="1"/>
          </p:cNvSpPr>
          <p:nvPr/>
        </p:nvSpPr>
        <p:spPr>
          <a:xfrm xmlns:a="http://schemas.openxmlformats.org/drawingml/2006/main">
            <a:off x="609600" y="4810125"/>
            <a:ext cx="2590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7F7B"/>
                </a:solidFill>
                <a:latin typeface="Arial"/>
                <a:ea typeface="Arial"/>
                <a:cs typeface="Arial"/>
              </a:defRPr>
            </a:pPr>
            <a:r>
              <a:rPr sz="2100" b="1">
                <a:solidFill>
                  <a:srgbClr val="127F7B"/>
                </a:solidFill>
                <a:latin typeface="Arial"/>
                <a:ea typeface="Arial"/>
                <a:cs typeface="Arial"/>
              </a:rPr>
              <a:t>Relevant endpoint</a:t>
            </a:r>
          </a:p>
        </p:txBody>
      </p:sp>
      <p:sp>
        <p:nvSpPr>
          <p:cNvPr id="10" name="text-9">
            <a:extLst xmlns:a="http://schemas.openxmlformats.org/drawingml/2006/main">
              <a:ext uri="{FF2B5EF4-FFF2-40B4-BE49-F238E27FC236}">
                <a16:creationId xmlns:a16="http://schemas.microsoft.com/office/drawing/2014/main" id="{7E7EA813-B741-475E-A75A-9E607FFD4B75}"/>
              </a:ext>
            </a:extLst>
          </p:cNvPr>
          <p:cNvSpPr>
            <a:spLocks xmlns:a="http://schemas.openxmlformats.org/drawingml/2006/main" noGrp="1"/>
          </p:cNvSpPr>
          <p:nvPr/>
        </p:nvSpPr>
        <p:spPr>
          <a:xfrm xmlns:a="http://schemas.openxmlformats.org/drawingml/2006/main">
            <a:off x="3409950" y="4810125"/>
            <a:ext cx="81724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C39"/>
                </a:solidFill>
                <a:latin typeface="Arial"/>
                <a:ea typeface="Arial"/>
                <a:cs typeface="Arial"/>
              </a:defRPr>
            </a:pPr>
            <a:r>
              <a:rPr sz="2100" b="0">
                <a:solidFill>
                  <a:srgbClr val="132C39"/>
                </a:solidFill>
                <a:latin typeface="Arial"/>
                <a:ea typeface="Arial"/>
                <a:cs typeface="Arial"/>
              </a:rPr>
              <a:t>The intended-product assay tests whether the screen predicts the application.</a:t>
            </a:r>
          </a:p>
        </p:txBody>
      </p:sp>
    </p:spTree>
    <p:extLst>
      <p:ext uri="{BB962C8B-B14F-4D97-AF65-F5344CB8AC3E}">
        <p14:creationId xmlns:p14="http://schemas.microsoft.com/office/powerpoint/2010/main" val="2098464369"/>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3163781B-68C4-482E-B97F-81B55A0BBBCA}"/>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Library strategy and screening burden</a:t>
            </a:r>
          </a:p>
        </p:txBody>
      </p:sp>
      <p:sp>
        <p:nvSpPr>
          <p:cNvPr id="2" name="text-1">
            <a:extLst xmlns:a="http://schemas.openxmlformats.org/drawingml/2006/main">
              <a:ext uri="{FF2B5EF4-FFF2-40B4-BE49-F238E27FC236}">
                <a16:creationId xmlns:a16="http://schemas.microsoft.com/office/drawing/2014/main" id="{B1C2FDDB-66EB-4437-A53B-4C297093BFEC}"/>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12</a:t>
            </a:r>
          </a:p>
        </p:txBody>
      </p:sp>
      <p:graphicFrame>
        <p:nvGraphicFramePr>
          <p:cNvPr id="6" name=""/>
          <p:cNvGraphicFramePr/>
          <p:nvPr/>
        </p:nvGraphicFramePr>
        <p:xfrm>
          <a:off xmlns:a="http://schemas.openxmlformats.org/drawingml/2006/main" x="609600" y="1590675"/>
          <a:ext xmlns:a="http://schemas.openxmlformats.org/drawingml/2006/main" cx="10972800" cy="4057650"/>
        </p:xfrm>
        <a:graphic xmlns:a="http://schemas.openxmlformats.org/drawingml/2006/main">
          <a:graphicData uri="http://schemas.openxmlformats.org/drawingml/2006/table">
            <a:tbl>
              <a:tblPr firstRow="1" bandRow="0"/>
              <a:tblGrid>
                <a:gridCol w="3143250"/>
                <a:gridCol w="3990975"/>
                <a:gridCol w="3838575"/>
              </a:tblGrid>
              <a:tr h="552450">
                <a:tc>
                  <a:txBody>
                    <a:bodyPr wrap="square">
                      <a:noAutofit/>
                    </a:bodyPr>
                    <a:lstStyle/>
                    <a:p>
                      <a:r>
                        <a:rPr sz="1800" b="1">
                          <a:solidFill>
                            <a:srgbClr val="FFFFFF"/>
                          </a:solidFill>
                          <a:latin typeface="Arial"/>
                          <a:ea typeface="Arial"/>
                          <a:cs typeface="Arial"/>
                        </a:rPr>
                        <a:t>Strategy</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Useful starting condition</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Main limitation</a:t>
                      </a:r>
                    </a:p>
                  </a:txBody>
                  <a:tcPr marL="133350" marR="133350" marT="57150" marB="57150" anchor="ctr">
                    <a:solidFill>
                      <a:srgbClr val="132C39"/>
                    </a:solidFill>
                  </a:tcPr>
                </a:tc>
              </a:tr>
              <a:tr h="876300">
                <a:tc>
                  <a:txBody>
                    <a:bodyPr wrap="square">
                      <a:noAutofit/>
                    </a:bodyPr>
                    <a:lstStyle/>
                    <a:p>
                      <a:r>
                        <a:rPr sz="1800" b="0">
                          <a:solidFill>
                            <a:srgbClr val="132C39"/>
                          </a:solidFill>
                          <a:latin typeface="Arial"/>
                          <a:ea typeface="Arial"/>
                          <a:cs typeface="Arial"/>
                        </a:rPr>
                        <a:t>Defined substitutions</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A focused hypothesis or small</a:t>
                      </a:r>
                    </a:p>
                    <a:p>
                      <a:r>
                        <a:rPr sz="1800" b="0">
                          <a:solidFill>
                            <a:srgbClr val="132C39"/>
                          </a:solidFill>
                          <a:latin typeface="Arial"/>
                          <a:ea typeface="Arial"/>
                          <a:cs typeface="Arial"/>
                        </a:rPr>
                        <a:t>budget</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Only proposed changes are</a:t>
                      </a:r>
                    </a:p>
                    <a:p>
                      <a:r>
                        <a:rPr sz="1800" b="0">
                          <a:solidFill>
                            <a:srgbClr val="132C39"/>
                          </a:solidFill>
                          <a:latin typeface="Arial"/>
                          <a:ea typeface="Arial"/>
                          <a:cs typeface="Arial"/>
                        </a:rPr>
                        <a:t>explored</a:t>
                      </a:r>
                    </a:p>
                  </a:txBody>
                  <a:tcPr marL="133350" marR="133350" marT="57150" marB="57150" anchor="ctr">
                    <a:solidFill>
                      <a:srgbClr val="F7F7F2"/>
                    </a:solidFill>
                  </a:tcPr>
                </a:tc>
              </a:tr>
              <a:tr h="876300">
                <a:tc>
                  <a:txBody>
                    <a:bodyPr wrap="square">
                      <a:noAutofit/>
                    </a:bodyPr>
                    <a:lstStyle/>
                    <a:p>
                      <a:r>
                        <a:rPr sz="1800" b="0">
                          <a:solidFill>
                            <a:srgbClr val="132C39"/>
                          </a:solidFill>
                          <a:latin typeface="Arial"/>
                          <a:ea typeface="Arial"/>
                          <a:cs typeface="Arial"/>
                        </a:rPr>
                        <a:t>Site saturation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A residue merits broad</a:t>
                      </a:r>
                    </a:p>
                    <a:p>
                      <a:r>
                        <a:rPr sz="1800" b="0">
                          <a:solidFill>
                            <a:srgbClr val="132C39"/>
                          </a:solidFill>
                          <a:latin typeface="Arial"/>
                          <a:ea typeface="Arial"/>
                          <a:cs typeface="Arial"/>
                        </a:rPr>
                        <a:t>exploration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Repeated variants and codon</a:t>
                      </a:r>
                    </a:p>
                    <a:p>
                      <a:r>
                        <a:rPr sz="1800" b="0">
                          <a:solidFill>
                            <a:srgbClr val="132C39"/>
                          </a:solidFill>
                          <a:latin typeface="Arial"/>
                          <a:ea typeface="Arial"/>
                          <a:cs typeface="Arial"/>
                        </a:rPr>
                        <a:t>bias</a:t>
                      </a:r>
                    </a:p>
                  </a:txBody>
                  <a:tcPr marL="133350" marR="133350" marT="57150" marB="57150" anchor="ctr">
                    <a:solidFill>
                      <a:srgbClr val="F7F7F2"/>
                    </a:solidFill>
                  </a:tcPr>
                </a:tc>
              </a:tr>
              <a:tr h="876300">
                <a:tc>
                  <a:txBody>
                    <a:bodyPr wrap="square">
                      <a:noAutofit/>
                    </a:bodyPr>
                    <a:lstStyle/>
                    <a:p>
                      <a:r>
                        <a:rPr sz="1800" b="0">
                          <a:solidFill>
                            <a:srgbClr val="132C39"/>
                          </a:solidFill>
                          <a:latin typeface="Arial"/>
                          <a:ea typeface="Arial"/>
                          <a:cs typeface="Arial"/>
                        </a:rPr>
                        <a:t>Random mutagenesis</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Broader exploration with</a:t>
                      </a:r>
                    </a:p>
                    <a:p>
                      <a:r>
                        <a:rPr sz="1800" b="0">
                          <a:solidFill>
                            <a:srgbClr val="132C39"/>
                          </a:solidFill>
                          <a:latin typeface="Arial"/>
                          <a:ea typeface="Arial"/>
                          <a:cs typeface="Arial"/>
                        </a:rPr>
                        <a:t>enough capacity</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Variable mutation load and</a:t>
                      </a:r>
                    </a:p>
                    <a:p>
                      <a:r>
                        <a:rPr sz="1800" b="0">
                          <a:solidFill>
                            <a:srgbClr val="132C39"/>
                          </a:solidFill>
                          <a:latin typeface="Arial"/>
                          <a:ea typeface="Arial"/>
                          <a:cs typeface="Arial"/>
                        </a:rPr>
                        <a:t>inactive clones</a:t>
                      </a:r>
                    </a:p>
                  </a:txBody>
                  <a:tcPr marL="133350" marR="133350" marT="57150" marB="57150" anchor="ctr">
                    <a:solidFill>
                      <a:srgbClr val="F7F7F2"/>
                    </a:solidFill>
                  </a:tcPr>
                </a:tc>
              </a:tr>
              <a:tr h="876300">
                <a:tc>
                  <a:txBody>
                    <a:bodyPr wrap="square">
                      <a:noAutofit/>
                    </a:bodyPr>
                    <a:lstStyle/>
                    <a:p>
                      <a:r>
                        <a:rPr sz="1800" b="0">
                          <a:solidFill>
                            <a:srgbClr val="132C39"/>
                          </a:solidFill>
                          <a:latin typeface="Arial"/>
                          <a:ea typeface="Arial"/>
                          <a:cs typeface="Arial"/>
                        </a:rPr>
                        <a:t>Recombination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Several confirmed changes</a:t>
                      </a:r>
                    </a:p>
                    <a:p>
                      <a:r>
                        <a:rPr sz="1800" b="0">
                          <a:solidFill>
                            <a:srgbClr val="132C39"/>
                          </a:solidFill>
                          <a:latin typeface="Arial"/>
                          <a:ea typeface="Arial"/>
                          <a:cs typeface="Arial"/>
                        </a:rPr>
                        <a:t>exist</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Combinations can lose</a:t>
                      </a:r>
                    </a:p>
                    <a:p>
                      <a:r>
                        <a:rPr sz="1800" b="0">
                          <a:solidFill>
                            <a:srgbClr val="132C39"/>
                          </a:solidFill>
                          <a:latin typeface="Arial"/>
                          <a:ea typeface="Arial"/>
                          <a:cs typeface="Arial"/>
                        </a:rPr>
                        <a:t>individual benefits</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1918632335"/>
      </p:ext>
    </p:extLst>
  </p:cSld>
</p:sld>
</file>

<file path=ppt/slides/slide1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8DC3714-A3EC-498A-8416-CA58CE90DD52}"/>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Expected coverage and complete sampling</a:t>
            </a:r>
          </a:p>
        </p:txBody>
      </p:sp>
      <p:sp>
        <p:nvSpPr>
          <p:cNvPr id="2" name="text-1">
            <a:extLst xmlns:a="http://schemas.openxmlformats.org/drawingml/2006/main">
              <a:ext uri="{FF2B5EF4-FFF2-40B4-BE49-F238E27FC236}">
                <a16:creationId xmlns:a16="http://schemas.microsoft.com/office/drawing/2014/main" id="{2DA74D0A-5291-4D12-810E-89EB33141356}"/>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13</a:t>
            </a:r>
          </a:p>
        </p:txBody>
      </p:sp>
      <p:sp>
        <p:nvSpPr>
          <p:cNvPr id="3" name="text-2">
            <a:extLst xmlns:a="http://schemas.openxmlformats.org/drawingml/2006/main">
              <a:ext uri="{FF2B5EF4-FFF2-40B4-BE49-F238E27FC236}">
                <a16:creationId xmlns:a16="http://schemas.microsoft.com/office/drawing/2014/main" id="{9B3FCCA9-7F68-4658-AE58-5F3DDF5C6D88}"/>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Ideal one-site NNK model. Independent draws with replacement. All 20 amino acids are targets.</a:t>
            </a:r>
          </a:p>
        </p:txBody>
      </p:sp>
      <p:graphicFrame>
        <p:nvGraphicFramePr>
          <p:cNvPr id="13" name="Chart"/>
          <p:cNvGraphicFramePr/>
          <p:nvPr/>
        </p:nvGraphicFramePr>
        <p:xfrm>
          <a:off xmlns:a="http://schemas.openxmlformats.org/drawingml/2006/main" x="571500" y="1657350"/>
          <a:ext xmlns:a="http://schemas.openxmlformats.org/drawingml/2006/main" cx="7353300" cy="4076700"/>
        </p:xfrm>
        <a:graphic xmlns:a="http://schemas.openxmlformats.org/drawingml/2006/main">
          <a:graphicData uri="http://schemas.openxmlformats.org/drawingml/2006/chart">
            <c:chart xmlns:r="http://schemas.openxmlformats.org/officeDocument/2006/relationships" xmlns:c="http://schemas.openxmlformats.org/drawingml/2006/chart" r:id="R398f33d508a54168"/>
          </a:graphicData>
        </a:graphic>
      </p:graphicFrame>
      <p:sp>
        <p:nvSpPr>
          <p:cNvPr id="5" name="text-3">
            <a:extLst xmlns:a="http://schemas.openxmlformats.org/drawingml/2006/main">
              <a:ext uri="{FF2B5EF4-FFF2-40B4-BE49-F238E27FC236}">
                <a16:creationId xmlns:a16="http://schemas.microsoft.com/office/drawing/2014/main" id="{B6205ADA-C3B1-4B09-B5BA-055274032382}"/>
              </a:ext>
            </a:extLst>
          </p:cNvPr>
          <p:cNvSpPr>
            <a:spLocks xmlns:a="http://schemas.openxmlformats.org/drawingml/2006/main" noGrp="1"/>
          </p:cNvSpPr>
          <p:nvPr/>
        </p:nvSpPr>
        <p:spPr>
          <a:xfrm xmlns:a="http://schemas.openxmlformats.org/drawingml/2006/main">
            <a:off x="8591550" y="17907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32C39"/>
                </a:solidFill>
                <a:latin typeface="Arial"/>
                <a:ea typeface="Arial"/>
                <a:cs typeface="Arial"/>
              </a:defRPr>
            </a:pPr>
            <a:r>
              <a:rPr sz="2100" b="1">
                <a:solidFill>
                  <a:srgbClr val="132C39"/>
                </a:solidFill>
                <a:latin typeface="Arial"/>
                <a:ea typeface="Arial"/>
                <a:cs typeface="Arial"/>
              </a:rPr>
              <a:t>At 96 draws</a:t>
            </a:r>
          </a:p>
        </p:txBody>
      </p:sp>
      <p:sp>
        <p:nvSpPr>
          <p:cNvPr id="6" name="text-4">
            <a:extLst xmlns:a="http://schemas.openxmlformats.org/drawingml/2006/main">
              <a:ext uri="{FF2B5EF4-FFF2-40B4-BE49-F238E27FC236}">
                <a16:creationId xmlns:a16="http://schemas.microsoft.com/office/drawing/2014/main" id="{B22EFE82-FAF3-4756-86F4-A8B5002B9C33}"/>
              </a:ext>
            </a:extLst>
          </p:cNvPr>
          <p:cNvSpPr>
            <a:spLocks xmlns:a="http://schemas.openxmlformats.org/drawingml/2006/main" noGrp="1"/>
          </p:cNvSpPr>
          <p:nvPr/>
        </p:nvSpPr>
        <p:spPr>
          <a:xfrm xmlns:a="http://schemas.openxmlformats.org/drawingml/2006/main">
            <a:off x="8534400" y="2419350"/>
            <a:ext cx="2990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127F7B"/>
                </a:solidFill>
                <a:latin typeface="Arial"/>
                <a:ea typeface="Arial"/>
                <a:cs typeface="Arial"/>
              </a:defRPr>
            </a:pPr>
            <a:r>
              <a:rPr sz="4650" b="1">
                <a:solidFill>
                  <a:srgbClr val="127F7B"/>
                </a:solidFill>
                <a:latin typeface="Arial"/>
                <a:ea typeface="Arial"/>
                <a:cs typeface="Arial"/>
              </a:rPr>
              <a:t>97.1%</a:t>
            </a:r>
          </a:p>
        </p:txBody>
      </p:sp>
      <p:sp>
        <p:nvSpPr>
          <p:cNvPr id="7" name="text-5">
            <a:extLst xmlns:a="http://schemas.openxmlformats.org/drawingml/2006/main">
              <a:ext uri="{FF2B5EF4-FFF2-40B4-BE49-F238E27FC236}">
                <a16:creationId xmlns:a16="http://schemas.microsoft.com/office/drawing/2014/main" id="{717C062A-7458-4E8B-B31D-F045A5DFA1CC}"/>
              </a:ext>
            </a:extLst>
          </p:cNvPr>
          <p:cNvSpPr>
            <a:spLocks xmlns:a="http://schemas.openxmlformats.org/drawingml/2006/main" noGrp="1"/>
          </p:cNvSpPr>
          <p:nvPr/>
        </p:nvSpPr>
        <p:spPr>
          <a:xfrm xmlns:a="http://schemas.openxmlformats.org/drawingml/2006/main">
            <a:off x="8582025" y="3152775"/>
            <a:ext cx="28479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Expected coverage</a:t>
            </a:r>
          </a:p>
        </p:txBody>
      </p:sp>
      <p:sp>
        <p:nvSpPr>
          <p:cNvPr id="8" name="text-6">
            <a:extLst xmlns:a="http://schemas.openxmlformats.org/drawingml/2006/main">
              <a:ext uri="{FF2B5EF4-FFF2-40B4-BE49-F238E27FC236}">
                <a16:creationId xmlns:a16="http://schemas.microsoft.com/office/drawing/2014/main" id="{68AC71A3-A89F-40CA-A2FE-F430820B1E3B}"/>
              </a:ext>
            </a:extLst>
          </p:cNvPr>
          <p:cNvSpPr>
            <a:spLocks xmlns:a="http://schemas.openxmlformats.org/drawingml/2006/main" noGrp="1"/>
          </p:cNvSpPr>
          <p:nvPr/>
        </p:nvSpPr>
        <p:spPr>
          <a:xfrm xmlns:a="http://schemas.openxmlformats.org/drawingml/2006/main">
            <a:off x="8524875" y="4038600"/>
            <a:ext cx="300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C96543"/>
                </a:solidFill>
                <a:latin typeface="Arial"/>
                <a:ea typeface="Arial"/>
                <a:cs typeface="Arial"/>
              </a:defRPr>
            </a:pPr>
            <a:r>
              <a:rPr sz="3000" b="1">
                <a:solidFill>
                  <a:srgbClr val="C96543"/>
                </a:solidFill>
                <a:latin typeface="Arial"/>
                <a:ea typeface="Arial"/>
                <a:cs typeface="Arial"/>
              </a:rPr>
              <a:t>42.0–95.3%</a:t>
            </a:r>
          </a:p>
        </p:txBody>
      </p:sp>
      <p:sp>
        <p:nvSpPr>
          <p:cNvPr id="9" name="text-7">
            <a:extLst xmlns:a="http://schemas.openxmlformats.org/drawingml/2006/main">
              <a:ext uri="{FF2B5EF4-FFF2-40B4-BE49-F238E27FC236}">
                <a16:creationId xmlns:a16="http://schemas.microsoft.com/office/drawing/2014/main" id="{29604451-C8BE-417D-B74F-9B2DC2C3F765}"/>
              </a:ext>
            </a:extLst>
          </p:cNvPr>
          <p:cNvSpPr>
            <a:spLocks xmlns:a="http://schemas.openxmlformats.org/drawingml/2006/main" noGrp="1"/>
          </p:cNvSpPr>
          <p:nvPr/>
        </p:nvSpPr>
        <p:spPr>
          <a:xfrm xmlns:a="http://schemas.openxmlformats.org/drawingml/2006/main">
            <a:off x="8582025" y="4724400"/>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32C39"/>
                </a:solidFill>
                <a:latin typeface="Arial"/>
                <a:ea typeface="Arial"/>
                <a:cs typeface="Arial"/>
              </a:defRPr>
            </a:pPr>
            <a:r>
              <a:rPr sz="1950" b="0">
                <a:solidFill>
                  <a:srgbClr val="132C39"/>
                </a:solidFill>
                <a:latin typeface="Arial"/>
                <a:ea typeface="Arial"/>
                <a:cs typeface="Arial"/>
              </a:rPr>
              <a:t>Bounds on seeing</a:t>
            </a:r>
          </a:p>
          <a:p xmlns:a="http://schemas.openxmlformats.org/drawingml/2006/main">
            <a:pPr>
              <a:defRPr sz="1950" b="0">
                <a:solidFill>
                  <a:srgbClr val="132C39"/>
                </a:solidFill>
                <a:latin typeface="Arial"/>
                <a:ea typeface="Arial"/>
                <a:cs typeface="Arial"/>
              </a:defRPr>
            </a:pPr>
            <a:r>
              <a:rPr sz="1950" b="0">
                <a:solidFill>
                  <a:srgbClr val="132C39"/>
                </a:solidFill>
                <a:latin typeface="Arial"/>
                <a:ea typeface="Arial"/>
                <a:cs typeface="Arial"/>
              </a:rPr>
              <a:t>every amino acid</a:t>
            </a:r>
          </a:p>
        </p:txBody>
      </p:sp>
    </p:spTree>
    <p:extLst>
      <p:ext uri="{BB962C8B-B14F-4D97-AF65-F5344CB8AC3E}">
        <p14:creationId xmlns:p14="http://schemas.microsoft.com/office/powerpoint/2010/main" val="2125438946"/>
      </p:ext>
    </p:extLst>
  </p:cSld>
</p:sld>
</file>

<file path=ppt/slides/slide1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2CE815E-4C6F-44FB-83F3-C37F19791D6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LipA: an optical screening example</a:t>
            </a:r>
          </a:p>
        </p:txBody>
      </p:sp>
      <p:sp>
        <p:nvSpPr>
          <p:cNvPr id="2" name="text-1">
            <a:extLst xmlns:a="http://schemas.openxmlformats.org/drawingml/2006/main">
              <a:ext uri="{FF2B5EF4-FFF2-40B4-BE49-F238E27FC236}">
                <a16:creationId xmlns:a16="http://schemas.microsoft.com/office/drawing/2014/main" id="{A9CB706E-FD3C-45AC-B189-1824B494510C}"/>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14</a:t>
            </a:r>
          </a:p>
        </p:txBody>
      </p:sp>
      <p:sp>
        <p:nvSpPr>
          <p:cNvPr id="3" name="text-2">
            <a:extLst xmlns:a="http://schemas.openxmlformats.org/drawingml/2006/main">
              <a:ext uri="{FF2B5EF4-FFF2-40B4-BE49-F238E27FC236}">
                <a16:creationId xmlns:a16="http://schemas.microsoft.com/office/drawing/2014/main" id="{6CE97B7B-26EE-4877-9E92-B2DCD7F46DB6}"/>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Synthetic teaching layout and measurements. No mutation sequences or experimental improvements are supplied.</a:t>
            </a:r>
          </a:p>
        </p:txBody>
      </p:sp>
      <p:sp>
        <p:nvSpPr>
          <p:cNvPr id="4" name="text-3">
            <a:extLst xmlns:a="http://schemas.openxmlformats.org/drawingml/2006/main">
              <a:ext uri="{FF2B5EF4-FFF2-40B4-BE49-F238E27FC236}">
                <a16:creationId xmlns:a16="http://schemas.microsoft.com/office/drawing/2014/main" id="{D6128A1D-5F63-44A7-A36D-2B27A2A78D05}"/>
              </a:ext>
            </a:extLst>
          </p:cNvPr>
          <p:cNvSpPr>
            <a:spLocks xmlns:a="http://schemas.openxmlformats.org/drawingml/2006/main" noGrp="1"/>
          </p:cNvSpPr>
          <p:nvPr/>
        </p:nvSpPr>
        <p:spPr>
          <a:xfrm xmlns:a="http://schemas.openxmlformats.org/drawingml/2006/main">
            <a:off x="628650" y="1714500"/>
            <a:ext cx="3143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700" b="1">
                <a:solidFill>
                  <a:srgbClr val="127F7B"/>
                </a:solidFill>
                <a:latin typeface="Arial"/>
                <a:ea typeface="Arial"/>
                <a:cs typeface="Arial"/>
              </a:defRPr>
            </a:pPr>
            <a:r>
              <a:rPr sz="8700" b="1">
                <a:solidFill>
                  <a:srgbClr val="127F7B"/>
                </a:solidFill>
                <a:latin typeface="Arial"/>
                <a:ea typeface="Arial"/>
                <a:cs typeface="Arial"/>
              </a:rPr>
              <a:t>96</a:t>
            </a:r>
          </a:p>
        </p:txBody>
      </p:sp>
      <p:sp>
        <p:nvSpPr>
          <p:cNvPr id="5" name="text-4">
            <a:extLst xmlns:a="http://schemas.openxmlformats.org/drawingml/2006/main">
              <a:ext uri="{FF2B5EF4-FFF2-40B4-BE49-F238E27FC236}">
                <a16:creationId xmlns:a16="http://schemas.microsoft.com/office/drawing/2014/main" id="{1FA19906-A79F-4F57-8A82-6EB4DE55E30E}"/>
              </a:ext>
            </a:extLst>
          </p:cNvPr>
          <p:cNvSpPr>
            <a:spLocks xmlns:a="http://schemas.openxmlformats.org/drawingml/2006/main" noGrp="1"/>
          </p:cNvSpPr>
          <p:nvPr/>
        </p:nvSpPr>
        <p:spPr>
          <a:xfrm xmlns:a="http://schemas.openxmlformats.org/drawingml/2006/main">
            <a:off x="685800" y="3190875"/>
            <a:ext cx="32099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32C39"/>
                </a:solidFill>
                <a:latin typeface="Arial"/>
                <a:ea typeface="Arial"/>
                <a:cs typeface="Arial"/>
              </a:defRPr>
            </a:pPr>
            <a:r>
              <a:rPr sz="2550" b="0">
                <a:solidFill>
                  <a:srgbClr val="132C39"/>
                </a:solidFill>
                <a:latin typeface="Arial"/>
                <a:ea typeface="Arial"/>
                <a:cs typeface="Arial"/>
              </a:rPr>
              <a:t>wells in the</a:t>
            </a:r>
          </a:p>
          <a:p xmlns:a="http://schemas.openxmlformats.org/drawingml/2006/main">
            <a:pPr>
              <a:defRPr sz="2550" b="0">
                <a:solidFill>
                  <a:srgbClr val="132C39"/>
                </a:solidFill>
                <a:latin typeface="Arial"/>
                <a:ea typeface="Arial"/>
                <a:cs typeface="Arial"/>
              </a:defRPr>
            </a:pPr>
            <a:r>
              <a:rPr sz="2550" b="0">
                <a:solidFill>
                  <a:srgbClr val="132C39"/>
                </a:solidFill>
                <a:latin typeface="Arial"/>
                <a:ea typeface="Arial"/>
                <a:cs typeface="Arial"/>
              </a:rPr>
              <a:t>teaching plate</a:t>
            </a:r>
          </a:p>
        </p:txBody>
      </p:sp>
      <p:sp>
        <p:nvSpPr>
          <p:cNvPr id="6" name="text-5">
            <a:extLst xmlns:a="http://schemas.openxmlformats.org/drawingml/2006/main">
              <a:ext uri="{FF2B5EF4-FFF2-40B4-BE49-F238E27FC236}">
                <a16:creationId xmlns:a16="http://schemas.microsoft.com/office/drawing/2014/main" id="{E867377E-4F79-4473-9F1A-C3538589366C}"/>
              </a:ext>
            </a:extLst>
          </p:cNvPr>
          <p:cNvSpPr>
            <a:spLocks xmlns:a="http://schemas.openxmlformats.org/drawingml/2006/main" noGrp="1"/>
          </p:cNvSpPr>
          <p:nvPr/>
        </p:nvSpPr>
        <p:spPr>
          <a:xfrm xmlns:a="http://schemas.openxmlformats.org/drawingml/2006/main">
            <a:off x="685800" y="4800600"/>
            <a:ext cx="3209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56A73"/>
                </a:solidFill>
                <a:latin typeface="Arial"/>
                <a:ea typeface="Arial"/>
                <a:cs typeface="Arial"/>
              </a:defRPr>
            </a:pPr>
            <a:r>
              <a:rPr sz="1950" b="0">
                <a:solidFill>
                  <a:srgbClr val="556A73"/>
                </a:solidFill>
                <a:latin typeface="Arial"/>
                <a:ea typeface="Arial"/>
                <a:cs typeface="Arial"/>
              </a:rPr>
              <a:t>p-Nitrophenyl</a:t>
            </a:r>
          </a:p>
          <a:p xmlns:a="http://schemas.openxmlformats.org/drawingml/2006/main">
            <a:pPr>
              <a:defRPr sz="1950" b="0">
                <a:solidFill>
                  <a:srgbClr val="556A73"/>
                </a:solidFill>
                <a:latin typeface="Arial"/>
                <a:ea typeface="Arial"/>
                <a:cs typeface="Arial"/>
              </a:defRPr>
            </a:pPr>
            <a:r>
              <a:rPr sz="1950" b="0">
                <a:solidFill>
                  <a:srgbClr val="556A73"/>
                </a:solidFill>
                <a:latin typeface="Arial"/>
                <a:ea typeface="Arial"/>
                <a:cs typeface="Arial"/>
              </a:rPr>
              <a:t>butyrate screen</a:t>
            </a:r>
          </a:p>
        </p:txBody>
      </p:sp>
      <p:graphicFrame>
        <p:nvGraphicFramePr>
          <p:cNvPr id="14" name=""/>
          <p:cNvGraphicFramePr/>
          <p:nvPr/>
        </p:nvGraphicFramePr>
        <p:xfrm>
          <a:off xmlns:a="http://schemas.openxmlformats.org/drawingml/2006/main" x="4419600" y="1657350"/>
          <a:ext xmlns:a="http://schemas.openxmlformats.org/drawingml/2006/main" cx="7162800" cy="3905250"/>
        </p:xfrm>
        <a:graphic xmlns:a="http://schemas.openxmlformats.org/drawingml/2006/main">
          <a:graphicData uri="http://schemas.openxmlformats.org/drawingml/2006/table">
            <a:tbl>
              <a:tblPr firstRow="1" bandRow="0"/>
              <a:tblGrid>
                <a:gridCol w="6096000"/>
                <a:gridCol w="1066800"/>
              </a:tblGrid>
              <a:tr h="552450">
                <a:tc>
                  <a:txBody>
                    <a:bodyPr wrap="square">
                      <a:noAutofit/>
                    </a:bodyPr>
                    <a:lstStyle/>
                    <a:p>
                      <a:r>
                        <a:rPr sz="1875" b="1">
                          <a:solidFill>
                            <a:srgbClr val="FFFFFF"/>
                          </a:solidFill>
                          <a:latin typeface="Arial"/>
                          <a:ea typeface="Arial"/>
                          <a:cs typeface="Arial"/>
                        </a:rPr>
                        <a:t>Samples</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Wells</a:t>
                      </a:r>
                    </a:p>
                  </a:txBody>
                  <a:tcPr marL="133350" marR="133350" marT="57150" marB="57150" anchor="ctr">
                    <a:solidFill>
                      <a:srgbClr val="132C39"/>
                    </a:solidFill>
                  </a:tcPr>
                </a:tc>
              </a:tr>
              <a:tr h="838200">
                <a:tc>
                  <a:txBody>
                    <a:bodyPr wrap="square">
                      <a:noAutofit/>
                    </a:bodyPr>
                    <a:lstStyle/>
                    <a:p>
                      <a:r>
                        <a:rPr sz="1875" b="0">
                          <a:solidFill>
                            <a:srgbClr val="132C39"/>
                          </a:solidFill>
                          <a:latin typeface="Arial"/>
                          <a:ea typeface="Arial"/>
                          <a:cs typeface="Arial"/>
                        </a:rPr>
                        <a:t>32 candidates × 2 technical wells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64</a:t>
                      </a:r>
                    </a:p>
                  </a:txBody>
                  <a:tcPr marL="133350" marR="133350" marT="57150" marB="57150" anchor="ctr">
                    <a:solidFill>
                      <a:srgbClr val="F7F7F2"/>
                    </a:solidFill>
                  </a:tcPr>
                </a:tc>
              </a:tr>
              <a:tr h="838200">
                <a:tc>
                  <a:txBody>
                    <a:bodyPr wrap="square">
                      <a:noAutofit/>
                    </a:bodyPr>
                    <a:lstStyle/>
                    <a:p>
                      <a:r>
                        <a:rPr sz="1875" b="0">
                          <a:solidFill>
                            <a:srgbClr val="132C39"/>
                          </a:solidFill>
                          <a:latin typeface="Arial"/>
                          <a:ea typeface="Arial"/>
                          <a:cs typeface="Arial"/>
                        </a:rPr>
                        <a:t>8 parent preparations × 2 wells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16</a:t>
                      </a:r>
                    </a:p>
                  </a:txBody>
                  <a:tcPr marL="133350" marR="133350" marT="57150" marB="57150" anchor="ctr">
                    <a:solidFill>
                      <a:srgbClr val="F7F7F2"/>
                    </a:solidFill>
                  </a:tcPr>
                </a:tc>
              </a:tr>
              <a:tr h="838200">
                <a:tc>
                  <a:txBody>
                    <a:bodyPr wrap="square">
                      <a:noAutofit/>
                    </a:bodyPr>
                    <a:lstStyle/>
                    <a:p>
                      <a:r>
                        <a:rPr sz="1875" b="0">
                          <a:solidFill>
                            <a:srgbClr val="132C39"/>
                          </a:solidFill>
                          <a:latin typeface="Arial"/>
                          <a:ea typeface="Arial"/>
                          <a:cs typeface="Arial"/>
                        </a:rPr>
                        <a:t>Reagent blanks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8</a:t>
                      </a:r>
                    </a:p>
                  </a:txBody>
                  <a:tcPr marL="133350" marR="133350" marT="57150" marB="57150" anchor="ctr">
                    <a:solidFill>
                      <a:srgbClr val="F7F7F2"/>
                    </a:solidFill>
                  </a:tcPr>
                </a:tc>
              </a:tr>
              <a:tr h="838200">
                <a:tc>
                  <a:txBody>
                    <a:bodyPr wrap="square">
                      <a:noAutofit/>
                    </a:bodyPr>
                    <a:lstStyle/>
                    <a:p>
                      <a:r>
                        <a:rPr sz="1875" b="0">
                          <a:solidFill>
                            <a:srgbClr val="132C39"/>
                          </a:solidFill>
                          <a:latin typeface="Arial"/>
                          <a:ea typeface="Arial"/>
                          <a:cs typeface="Arial"/>
                        </a:rPr>
                        <a:t>Host controls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8</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1876062149"/>
      </p:ext>
    </p:extLst>
  </p:cSld>
</p:sld>
</file>

<file path=ppt/slides/slide1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5B391FBF-453A-485B-B186-5AABB1C63C0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Quality flags prevent unreliable ranking</a:t>
            </a:r>
          </a:p>
        </p:txBody>
      </p:sp>
      <p:sp>
        <p:nvSpPr>
          <p:cNvPr id="2" name="text-1">
            <a:extLst xmlns:a="http://schemas.openxmlformats.org/drawingml/2006/main">
              <a:ext uri="{FF2B5EF4-FFF2-40B4-BE49-F238E27FC236}">
                <a16:creationId xmlns:a16="http://schemas.microsoft.com/office/drawing/2014/main" id="{F2627E00-52B6-40F3-913F-4EAF89F4EF5A}"/>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15</a:t>
            </a:r>
          </a:p>
        </p:txBody>
      </p:sp>
      <p:sp>
        <p:nvSpPr>
          <p:cNvPr id="3" name="text-2">
            <a:extLst xmlns:a="http://schemas.openxmlformats.org/drawingml/2006/main">
              <a:ext uri="{FF2B5EF4-FFF2-40B4-BE49-F238E27FC236}">
                <a16:creationId xmlns:a16="http://schemas.microsoft.com/office/drawing/2014/main" id="{7A40A291-0E46-4B6F-ACFE-EA4243FA1DFB}"/>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Synthetic data. Each displayed curve is one technical well. AU = absorbance units.</a:t>
            </a:r>
          </a:p>
        </p:txBody>
      </p:sp>
      <p:graphicFrame>
        <p:nvGraphicFramePr>
          <p:cNvPr id="16" name="Chart"/>
          <p:cNvGraphicFramePr/>
          <p:nvPr/>
        </p:nvGraphicFramePr>
        <p:xfrm>
          <a:off xmlns:a="http://schemas.openxmlformats.org/drawingml/2006/main" x="609600" y="1657350"/>
          <a:ext xmlns:a="http://schemas.openxmlformats.org/drawingml/2006/main" cx="7381875" cy="4219575"/>
        </p:xfrm>
        <a:graphic xmlns:a="http://schemas.openxmlformats.org/drawingml/2006/main">
          <a:graphicData uri="http://schemas.openxmlformats.org/drawingml/2006/chart">
            <c:chart xmlns:r="http://schemas.openxmlformats.org/officeDocument/2006/relationships" xmlns:c="http://schemas.openxmlformats.org/drawingml/2006/chart" r:id="Re9cfb4d6192f4d5b"/>
          </a:graphicData>
        </a:graphic>
      </p:graphicFrame>
      <p:sp>
        <p:nvSpPr>
          <p:cNvPr id="5" name="text-3">
            <a:extLst xmlns:a="http://schemas.openxmlformats.org/drawingml/2006/main">
              <a:ext uri="{FF2B5EF4-FFF2-40B4-BE49-F238E27FC236}">
                <a16:creationId xmlns:a16="http://schemas.microsoft.com/office/drawing/2014/main" id="{BF73643C-647C-4DCB-8E6C-61FCA69572E1}"/>
              </a:ext>
            </a:extLst>
          </p:cNvPr>
          <p:cNvSpPr>
            <a:spLocks xmlns:a="http://schemas.openxmlformats.org/drawingml/2006/main" noGrp="1"/>
          </p:cNvSpPr>
          <p:nvPr/>
        </p:nvSpPr>
        <p:spPr>
          <a:xfrm xmlns:a="http://schemas.openxmlformats.org/drawingml/2006/main">
            <a:off x="8724900" y="1666875"/>
            <a:ext cx="2705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27F7B"/>
                </a:solidFill>
                <a:latin typeface="Arial"/>
                <a:ea typeface="Arial"/>
                <a:cs typeface="Arial"/>
              </a:defRPr>
            </a:pPr>
            <a:r>
              <a:rPr sz="2175" b="1">
                <a:solidFill>
                  <a:srgbClr val="127F7B"/>
                </a:solidFill>
                <a:latin typeface="Arial"/>
                <a:ea typeface="Arial"/>
                <a:cs typeface="Arial"/>
              </a:rPr>
              <a:t>C07</a:t>
            </a:r>
          </a:p>
        </p:txBody>
      </p:sp>
      <p:sp>
        <p:nvSpPr>
          <p:cNvPr id="6" name="text-4">
            <a:extLst xmlns:a="http://schemas.openxmlformats.org/drawingml/2006/main">
              <a:ext uri="{FF2B5EF4-FFF2-40B4-BE49-F238E27FC236}">
                <a16:creationId xmlns:a16="http://schemas.microsoft.com/office/drawing/2014/main" id="{8E45CBE2-6CA4-4588-93F9-F3A2E33DBE52}"/>
              </a:ext>
            </a:extLst>
          </p:cNvPr>
          <p:cNvSpPr>
            <a:spLocks xmlns:a="http://schemas.openxmlformats.org/drawingml/2006/main" noGrp="1"/>
          </p:cNvSpPr>
          <p:nvPr/>
        </p:nvSpPr>
        <p:spPr>
          <a:xfrm xmlns:a="http://schemas.openxmlformats.org/drawingml/2006/main">
            <a:off x="8724900" y="2047875"/>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Nonlinear trace</a:t>
            </a:r>
          </a:p>
        </p:txBody>
      </p:sp>
      <p:sp>
        <p:nvSpPr>
          <p:cNvPr id="7" name="text-5">
            <a:extLst xmlns:a="http://schemas.openxmlformats.org/drawingml/2006/main">
              <a:ext uri="{FF2B5EF4-FFF2-40B4-BE49-F238E27FC236}">
                <a16:creationId xmlns:a16="http://schemas.microsoft.com/office/drawing/2014/main" id="{52330B6E-071E-40AE-ADFF-E25197A6ECD1}"/>
              </a:ext>
            </a:extLst>
          </p:cNvPr>
          <p:cNvSpPr>
            <a:spLocks xmlns:a="http://schemas.openxmlformats.org/drawingml/2006/main" noGrp="1"/>
          </p:cNvSpPr>
          <p:nvPr/>
        </p:nvSpPr>
        <p:spPr>
          <a:xfrm xmlns:a="http://schemas.openxmlformats.org/drawingml/2006/main">
            <a:off x="8724900" y="2733675"/>
            <a:ext cx="2705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27F7B"/>
                </a:solidFill>
                <a:latin typeface="Arial"/>
                <a:ea typeface="Arial"/>
                <a:cs typeface="Arial"/>
              </a:defRPr>
            </a:pPr>
            <a:r>
              <a:rPr sz="2175" b="1">
                <a:solidFill>
                  <a:srgbClr val="127F7B"/>
                </a:solidFill>
                <a:latin typeface="Arial"/>
                <a:ea typeface="Arial"/>
                <a:cs typeface="Arial"/>
              </a:rPr>
              <a:t>C19</a:t>
            </a:r>
          </a:p>
        </p:txBody>
      </p:sp>
      <p:sp>
        <p:nvSpPr>
          <p:cNvPr id="8" name="text-6">
            <a:extLst xmlns:a="http://schemas.openxmlformats.org/drawingml/2006/main">
              <a:ext uri="{FF2B5EF4-FFF2-40B4-BE49-F238E27FC236}">
                <a16:creationId xmlns:a16="http://schemas.microsoft.com/office/drawing/2014/main" id="{A8F6E9A1-545F-4743-AE9D-99ABEFC96830}"/>
              </a:ext>
            </a:extLst>
          </p:cNvPr>
          <p:cNvSpPr>
            <a:spLocks xmlns:a="http://schemas.openxmlformats.org/drawingml/2006/main" noGrp="1"/>
          </p:cNvSpPr>
          <p:nvPr/>
        </p:nvSpPr>
        <p:spPr>
          <a:xfrm xmlns:a="http://schemas.openxmlformats.org/drawingml/2006/main">
            <a:off x="8724900" y="3114675"/>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Technical disagreement</a:t>
            </a:r>
          </a:p>
        </p:txBody>
      </p:sp>
      <p:sp>
        <p:nvSpPr>
          <p:cNvPr id="9" name="text-7">
            <a:extLst xmlns:a="http://schemas.openxmlformats.org/drawingml/2006/main">
              <a:ext uri="{FF2B5EF4-FFF2-40B4-BE49-F238E27FC236}">
                <a16:creationId xmlns:a16="http://schemas.microsoft.com/office/drawing/2014/main" id="{F8AF7698-AF10-49E8-A234-A83C93A2D81E}"/>
              </a:ext>
            </a:extLst>
          </p:cNvPr>
          <p:cNvSpPr>
            <a:spLocks xmlns:a="http://schemas.openxmlformats.org/drawingml/2006/main" noGrp="1"/>
          </p:cNvSpPr>
          <p:nvPr/>
        </p:nvSpPr>
        <p:spPr>
          <a:xfrm xmlns:a="http://schemas.openxmlformats.org/drawingml/2006/main">
            <a:off x="8724900" y="3800475"/>
            <a:ext cx="2705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27F7B"/>
                </a:solidFill>
                <a:latin typeface="Arial"/>
                <a:ea typeface="Arial"/>
                <a:cs typeface="Arial"/>
              </a:defRPr>
            </a:pPr>
            <a:r>
              <a:rPr sz="2175" b="1">
                <a:solidFill>
                  <a:srgbClr val="127F7B"/>
                </a:solidFill>
                <a:latin typeface="Arial"/>
                <a:ea typeface="Arial"/>
                <a:cs typeface="Arial"/>
              </a:rPr>
              <a:t>C23</a:t>
            </a:r>
          </a:p>
        </p:txBody>
      </p:sp>
      <p:sp>
        <p:nvSpPr>
          <p:cNvPr id="10" name="text-8">
            <a:extLst xmlns:a="http://schemas.openxmlformats.org/drawingml/2006/main">
              <a:ext uri="{FF2B5EF4-FFF2-40B4-BE49-F238E27FC236}">
                <a16:creationId xmlns:a16="http://schemas.microsoft.com/office/drawing/2014/main" id="{4DBB406C-FEB7-4B54-8E85-D95740DC2580}"/>
              </a:ext>
            </a:extLst>
          </p:cNvPr>
          <p:cNvSpPr>
            <a:spLocks xmlns:a="http://schemas.openxmlformats.org/drawingml/2006/main" noGrp="1"/>
          </p:cNvSpPr>
          <p:nvPr/>
        </p:nvSpPr>
        <p:spPr>
          <a:xfrm xmlns:a="http://schemas.openxmlformats.org/drawingml/2006/main">
            <a:off x="8724900" y="4181475"/>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Signal above ceiling</a:t>
            </a:r>
          </a:p>
        </p:txBody>
      </p:sp>
      <p:sp>
        <p:nvSpPr>
          <p:cNvPr id="11" name="text-9">
            <a:extLst xmlns:a="http://schemas.openxmlformats.org/drawingml/2006/main">
              <a:ext uri="{FF2B5EF4-FFF2-40B4-BE49-F238E27FC236}">
                <a16:creationId xmlns:a16="http://schemas.microsoft.com/office/drawing/2014/main" id="{3E95268C-5778-4EF0-A7F0-C489691BE344}"/>
              </a:ext>
            </a:extLst>
          </p:cNvPr>
          <p:cNvSpPr>
            <a:spLocks xmlns:a="http://schemas.openxmlformats.org/drawingml/2006/main" noGrp="1"/>
          </p:cNvSpPr>
          <p:nvPr/>
        </p:nvSpPr>
        <p:spPr>
          <a:xfrm xmlns:a="http://schemas.openxmlformats.org/drawingml/2006/main">
            <a:off x="8724900" y="4867275"/>
            <a:ext cx="2705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27F7B"/>
                </a:solidFill>
                <a:latin typeface="Arial"/>
                <a:ea typeface="Arial"/>
                <a:cs typeface="Arial"/>
              </a:defRPr>
            </a:pPr>
            <a:r>
              <a:rPr sz="2175" b="1">
                <a:solidFill>
                  <a:srgbClr val="127F7B"/>
                </a:solidFill>
                <a:latin typeface="Arial"/>
                <a:ea typeface="Arial"/>
                <a:cs typeface="Arial"/>
              </a:rPr>
              <a:t>C27</a:t>
            </a:r>
          </a:p>
        </p:txBody>
      </p:sp>
      <p:sp>
        <p:nvSpPr>
          <p:cNvPr id="12" name="text-10">
            <a:extLst xmlns:a="http://schemas.openxmlformats.org/drawingml/2006/main">
              <a:ext uri="{FF2B5EF4-FFF2-40B4-BE49-F238E27FC236}">
                <a16:creationId xmlns:a16="http://schemas.microsoft.com/office/drawing/2014/main" id="{9B164DB8-C013-4A6B-98EC-62DCB352BA4A}"/>
              </a:ext>
            </a:extLst>
          </p:cNvPr>
          <p:cNvSpPr>
            <a:spLocks xmlns:a="http://schemas.openxmlformats.org/drawingml/2006/main" noGrp="1"/>
          </p:cNvSpPr>
          <p:nvPr/>
        </p:nvSpPr>
        <p:spPr>
          <a:xfrm xmlns:a="http://schemas.openxmlformats.org/drawingml/2006/main">
            <a:off x="8724900" y="5248275"/>
            <a:ext cx="2705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Nonpositive rate</a:t>
            </a:r>
          </a:p>
        </p:txBody>
      </p:sp>
    </p:spTree>
    <p:extLst>
      <p:ext uri="{BB962C8B-B14F-4D97-AF65-F5344CB8AC3E}">
        <p14:creationId xmlns:p14="http://schemas.microsoft.com/office/powerpoint/2010/main" val="148905267"/>
      </p:ext>
    </p:extLst>
  </p:cSld>
</p:sld>
</file>

<file path=ppt/slides/slide1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95A25F2-C180-4DF2-BD21-261E58DC38D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Primary screening and product confirmation</a:t>
            </a:r>
          </a:p>
        </p:txBody>
      </p:sp>
      <p:sp>
        <p:nvSpPr>
          <p:cNvPr id="2" name="text-1">
            <a:extLst xmlns:a="http://schemas.openxmlformats.org/drawingml/2006/main">
              <a:ext uri="{FF2B5EF4-FFF2-40B4-BE49-F238E27FC236}">
                <a16:creationId xmlns:a16="http://schemas.microsoft.com/office/drawing/2014/main" id="{CBAD35E7-F7F2-4DCE-A156-143462A6160E}"/>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16</a:t>
            </a:r>
          </a:p>
        </p:txBody>
      </p:sp>
      <p:sp>
        <p:nvSpPr>
          <p:cNvPr id="3" name="text-2">
            <a:extLst xmlns:a="http://schemas.openxmlformats.org/drawingml/2006/main">
              <a:ext uri="{FF2B5EF4-FFF2-40B4-BE49-F238E27FC236}">
                <a16:creationId xmlns:a16="http://schemas.microsoft.com/office/drawing/2014/main" id="{B3549E49-6797-4224-A75F-B2EDB3FB5CD1}"/>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Synthetic data. Confirmation uses three independent preparations at 0.1 µM target enzyme.</a:t>
            </a:r>
          </a:p>
        </p:txBody>
      </p:sp>
      <p:graphicFrame>
        <p:nvGraphicFramePr>
          <p:cNvPr id="12" name="Chart"/>
          <p:cNvGraphicFramePr/>
          <p:nvPr/>
        </p:nvGraphicFramePr>
        <p:xfrm>
          <a:off xmlns:a="http://schemas.openxmlformats.org/drawingml/2006/main" x="609600" y="1647825"/>
          <a:ext xmlns:a="http://schemas.openxmlformats.org/drawingml/2006/main" cx="7658100" cy="4257675"/>
        </p:xfrm>
        <a:graphic xmlns:a="http://schemas.openxmlformats.org/drawingml/2006/main">
          <a:graphicData uri="http://schemas.openxmlformats.org/drawingml/2006/chart">
            <c:chart xmlns:r="http://schemas.openxmlformats.org/officeDocument/2006/relationships" xmlns:c="http://schemas.openxmlformats.org/drawingml/2006/chart" r:id="R2954dc0a935a42ac"/>
          </a:graphicData>
        </a:graphic>
      </p:graphicFrame>
      <p:sp>
        <p:nvSpPr>
          <p:cNvPr id="5" name="text-3">
            <a:extLst xmlns:a="http://schemas.openxmlformats.org/drawingml/2006/main">
              <a:ext uri="{FF2B5EF4-FFF2-40B4-BE49-F238E27FC236}">
                <a16:creationId xmlns:a16="http://schemas.microsoft.com/office/drawing/2014/main" id="{81BEB3ED-D5E0-4E7C-B19A-576C2D739B60}"/>
              </a:ext>
            </a:extLst>
          </p:cNvPr>
          <p:cNvSpPr>
            <a:spLocks xmlns:a="http://schemas.openxmlformats.org/drawingml/2006/main" noGrp="1"/>
          </p:cNvSpPr>
          <p:nvPr/>
        </p:nvSpPr>
        <p:spPr>
          <a:xfrm xmlns:a="http://schemas.openxmlformats.org/drawingml/2006/main">
            <a:off x="8820150" y="2095500"/>
            <a:ext cx="2628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27F7B"/>
                </a:solidFill>
                <a:latin typeface="Arial"/>
                <a:ea typeface="Arial"/>
                <a:cs typeface="Arial"/>
              </a:defRPr>
            </a:pPr>
            <a:r>
              <a:rPr sz="2700" b="1">
                <a:solidFill>
                  <a:srgbClr val="127F7B"/>
                </a:solidFill>
                <a:latin typeface="Arial"/>
                <a:ea typeface="Arial"/>
                <a:cs typeface="Arial"/>
              </a:rPr>
              <a:t>C03</a:t>
            </a:r>
          </a:p>
        </p:txBody>
      </p:sp>
      <p:sp>
        <p:nvSpPr>
          <p:cNvPr id="6" name="text-4">
            <a:extLst xmlns:a="http://schemas.openxmlformats.org/drawingml/2006/main">
              <a:ext uri="{FF2B5EF4-FFF2-40B4-BE49-F238E27FC236}">
                <a16:creationId xmlns:a16="http://schemas.microsoft.com/office/drawing/2014/main" id="{1A0153B9-0C86-47DC-9C81-1D70FC5D0397}"/>
              </a:ext>
            </a:extLst>
          </p:cNvPr>
          <p:cNvSpPr>
            <a:spLocks xmlns:a="http://schemas.openxmlformats.org/drawingml/2006/main" noGrp="1"/>
          </p:cNvSpPr>
          <p:nvPr/>
        </p:nvSpPr>
        <p:spPr>
          <a:xfrm xmlns:a="http://schemas.openxmlformats.org/drawingml/2006/main">
            <a:off x="8820150" y="2657475"/>
            <a:ext cx="26479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C39"/>
                </a:solidFill>
                <a:latin typeface="Arial"/>
                <a:ea typeface="Arial"/>
                <a:cs typeface="Arial"/>
              </a:defRPr>
            </a:pPr>
            <a:r>
              <a:rPr sz="2175" b="0">
                <a:solidFill>
                  <a:srgbClr val="132C39"/>
                </a:solidFill>
                <a:latin typeface="Arial"/>
                <a:ea typeface="Arial"/>
                <a:cs typeface="Arial"/>
              </a:rPr>
              <a:t>1.295× parent</a:t>
            </a:r>
          </a:p>
          <a:p xmlns:a="http://schemas.openxmlformats.org/drawingml/2006/main">
            <a:pPr>
              <a:defRPr sz="2175" b="0">
                <a:solidFill>
                  <a:srgbClr val="132C39"/>
                </a:solidFill>
                <a:latin typeface="Arial"/>
                <a:ea typeface="Arial"/>
                <a:cs typeface="Arial"/>
              </a:defRPr>
            </a:pPr>
            <a:r>
              <a:rPr sz="2175" b="0">
                <a:solidFill>
                  <a:srgbClr val="132C39"/>
                </a:solidFill>
                <a:latin typeface="Arial"/>
                <a:ea typeface="Arial"/>
                <a:cs typeface="Arial"/>
              </a:rPr>
              <a:t>in confirmation</a:t>
            </a:r>
          </a:p>
        </p:txBody>
      </p:sp>
      <p:sp>
        <p:nvSpPr>
          <p:cNvPr id="7" name="text-5">
            <a:extLst xmlns:a="http://schemas.openxmlformats.org/drawingml/2006/main">
              <a:ext uri="{FF2B5EF4-FFF2-40B4-BE49-F238E27FC236}">
                <a16:creationId xmlns:a16="http://schemas.microsoft.com/office/drawing/2014/main" id="{13BD2648-1FD6-4D15-B487-143B868897B8}"/>
              </a:ext>
            </a:extLst>
          </p:cNvPr>
          <p:cNvSpPr>
            <a:spLocks xmlns:a="http://schemas.openxmlformats.org/drawingml/2006/main" noGrp="1"/>
          </p:cNvSpPr>
          <p:nvPr/>
        </p:nvSpPr>
        <p:spPr>
          <a:xfrm xmlns:a="http://schemas.openxmlformats.org/drawingml/2006/main">
            <a:off x="8820150" y="4076700"/>
            <a:ext cx="2619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C96543"/>
                </a:solidFill>
                <a:latin typeface="Arial"/>
                <a:ea typeface="Arial"/>
                <a:cs typeface="Arial"/>
              </a:defRPr>
            </a:pPr>
            <a:r>
              <a:rPr sz="2700" b="1">
                <a:solidFill>
                  <a:srgbClr val="C96543"/>
                </a:solidFill>
                <a:latin typeface="Arial"/>
                <a:ea typeface="Arial"/>
                <a:cs typeface="Arial"/>
              </a:rPr>
              <a:t>C11</a:t>
            </a:r>
          </a:p>
        </p:txBody>
      </p:sp>
      <p:sp>
        <p:nvSpPr>
          <p:cNvPr id="8" name="text-6">
            <a:extLst xmlns:a="http://schemas.openxmlformats.org/drawingml/2006/main">
              <a:ext uri="{FF2B5EF4-FFF2-40B4-BE49-F238E27FC236}">
                <a16:creationId xmlns:a16="http://schemas.microsoft.com/office/drawing/2014/main" id="{952E1D8E-54C0-4FE2-BD67-19F108A7E035}"/>
              </a:ext>
            </a:extLst>
          </p:cNvPr>
          <p:cNvSpPr>
            <a:spLocks xmlns:a="http://schemas.openxmlformats.org/drawingml/2006/main" noGrp="1"/>
          </p:cNvSpPr>
          <p:nvPr/>
        </p:nvSpPr>
        <p:spPr>
          <a:xfrm xmlns:a="http://schemas.openxmlformats.org/drawingml/2006/main">
            <a:off x="8820150" y="4638675"/>
            <a:ext cx="2628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C39"/>
                </a:solidFill>
                <a:latin typeface="Arial"/>
                <a:ea typeface="Arial"/>
                <a:cs typeface="Arial"/>
              </a:defRPr>
            </a:pPr>
            <a:r>
              <a:rPr sz="2175" b="0">
                <a:solidFill>
                  <a:srgbClr val="132C39"/>
                </a:solidFill>
                <a:latin typeface="Arial"/>
                <a:ea typeface="Arial"/>
                <a:cs typeface="Arial"/>
              </a:rPr>
              <a:t>1.017× parent</a:t>
            </a:r>
          </a:p>
          <a:p xmlns:a="http://schemas.openxmlformats.org/drawingml/2006/main">
            <a:pPr>
              <a:defRPr sz="2175" b="0">
                <a:solidFill>
                  <a:srgbClr val="132C39"/>
                </a:solidFill>
                <a:latin typeface="Arial"/>
                <a:ea typeface="Arial"/>
                <a:cs typeface="Arial"/>
              </a:defRPr>
            </a:pPr>
            <a:r>
              <a:rPr sz="2175" b="0">
                <a:solidFill>
                  <a:srgbClr val="132C39"/>
                </a:solidFill>
                <a:latin typeface="Arial"/>
                <a:ea typeface="Arial"/>
                <a:cs typeface="Arial"/>
              </a:rPr>
              <a:t>in confirmation</a:t>
            </a:r>
          </a:p>
        </p:txBody>
      </p:sp>
    </p:spTree>
    <p:extLst>
      <p:ext uri="{BB962C8B-B14F-4D97-AF65-F5344CB8AC3E}">
        <p14:creationId xmlns:p14="http://schemas.microsoft.com/office/powerpoint/2010/main" val="1355705957"/>
      </p:ext>
    </p:extLst>
  </p:cSld>
</p:sld>
</file>

<file path=ppt/slides/slide1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AC30EF0-0BF9-4806-AC89-EB52648AB4FF}"/>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Cofactor signals and intended products</a:t>
            </a:r>
          </a:p>
        </p:txBody>
      </p:sp>
      <p:sp>
        <p:nvSpPr>
          <p:cNvPr id="2" name="text-1">
            <a:extLst xmlns:a="http://schemas.openxmlformats.org/drawingml/2006/main">
              <a:ext uri="{FF2B5EF4-FFF2-40B4-BE49-F238E27FC236}">
                <a16:creationId xmlns:a16="http://schemas.microsoft.com/office/drawing/2014/main" id="{2E1D3B3E-9CAE-4028-94D2-CBD32C0DF9D9}"/>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17</a:t>
            </a:r>
          </a:p>
        </p:txBody>
      </p:sp>
      <p:sp>
        <p:nvSpPr>
          <p:cNvPr id="3" name="text-2">
            <a:extLst xmlns:a="http://schemas.openxmlformats.org/drawingml/2006/main">
              <a:ext uri="{FF2B5EF4-FFF2-40B4-BE49-F238E27FC236}">
                <a16:creationId xmlns:a16="http://schemas.microsoft.com/office/drawing/2014/main" id="{9A10B533-AC11-43AE-B8D9-D828633C08EA}"/>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Proposed adaptations of published enzyme systems. Each requires its own validated assay.</a:t>
            </a:r>
          </a:p>
        </p:txBody>
      </p:sp>
      <p:graphicFrame>
        <p:nvGraphicFramePr>
          <p:cNvPr id="8" name=""/>
          <p:cNvGraphicFramePr/>
          <p:nvPr/>
        </p:nvGraphicFramePr>
        <p:xfrm>
          <a:off xmlns:a="http://schemas.openxmlformats.org/drawingml/2006/main" x="609600" y="1590675"/>
          <a:ext xmlns:a="http://schemas.openxmlformats.org/drawingml/2006/main" cx="10972800" cy="4076700"/>
        </p:xfrm>
        <a:graphic xmlns:a="http://schemas.openxmlformats.org/drawingml/2006/main">
          <a:graphicData uri="http://schemas.openxmlformats.org/drawingml/2006/table">
            <a:tbl>
              <a:tblPr firstRow="1" bandRow="0"/>
              <a:tblGrid>
                <a:gridCol w="2266950"/>
                <a:gridCol w="4352925"/>
                <a:gridCol w="4352925"/>
              </a:tblGrid>
              <a:tr h="552450">
                <a:tc>
                  <a:txBody>
                    <a:bodyPr wrap="square">
                      <a:noAutofit/>
                    </a:bodyPr>
                    <a:lstStyle/>
                    <a:p>
                      <a:r>
                        <a:rPr sz="1800" b="1">
                          <a:solidFill>
                            <a:srgbClr val="FFFFFF"/>
                          </a:solidFill>
                          <a:latin typeface="Arial"/>
                          <a:ea typeface="Arial"/>
                          <a:cs typeface="Arial"/>
                        </a:rPr>
                        <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Alcohol dehydrogenase</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P450 BM3</a:t>
                      </a:r>
                    </a:p>
                  </a:txBody>
                  <a:tcPr marL="133350" marR="133350" marT="57150" marB="57150" anchor="ctr">
                    <a:solidFill>
                      <a:srgbClr val="132C39"/>
                    </a:solidFill>
                  </a:tcPr>
                </a:tc>
              </a:tr>
              <a:tr h="881063">
                <a:tc>
                  <a:txBody>
                    <a:bodyPr wrap="square">
                      <a:noAutofit/>
                    </a:bodyPr>
                    <a:lstStyle/>
                    <a:p>
                      <a:r>
                        <a:rPr sz="1800" b="0">
                          <a:solidFill>
                            <a:srgbClr val="132C39"/>
                          </a:solidFill>
                          <a:latin typeface="Arial"/>
                          <a:ea typeface="Arial"/>
                          <a:cs typeface="Arial"/>
                        </a:rPr>
                        <a:t>Screening</a:t>
                      </a:r>
                    </a:p>
                    <a:p>
                      <a:r>
                        <a:rPr sz="1800" b="0">
                          <a:solidFill>
                            <a:srgbClr val="132C39"/>
                          </a:solidFill>
                          <a:latin typeface="Arial"/>
                          <a:ea typeface="Arial"/>
                          <a:cs typeface="Arial"/>
                        </a:rPr>
                        <a:t>signal</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NADH decrease at 340 nm</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NADPH consumption or product</a:t>
                      </a:r>
                    </a:p>
                    <a:p>
                      <a:r>
                        <a:rPr sz="1800" b="0">
                          <a:solidFill>
                            <a:srgbClr val="132C39"/>
                          </a:solidFill>
                          <a:latin typeface="Arial"/>
                          <a:ea typeface="Arial"/>
                          <a:cs typeface="Arial"/>
                        </a:rPr>
                        <a:t>signal</a:t>
                      </a:r>
                    </a:p>
                  </a:txBody>
                  <a:tcPr marL="133350" marR="133350" marT="57150" marB="57150" anchor="ctr">
                    <a:solidFill>
                      <a:srgbClr val="F7F7F2"/>
                    </a:solidFill>
                  </a:tcPr>
                </a:tc>
              </a:tr>
              <a:tr h="881063">
                <a:tc>
                  <a:txBody>
                    <a:bodyPr wrap="square">
                      <a:noAutofit/>
                    </a:bodyPr>
                    <a:lstStyle/>
                    <a:p>
                      <a:r>
                        <a:rPr sz="1800" b="0">
                          <a:solidFill>
                            <a:srgbClr val="132C39"/>
                          </a:solidFill>
                          <a:latin typeface="Arial"/>
                          <a:ea typeface="Arial"/>
                          <a:cs typeface="Arial"/>
                        </a:rPr>
                        <a:t>Key ambiguity</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Background cofactor loss and</a:t>
                      </a:r>
                    </a:p>
                    <a:p>
                      <a:r>
                        <a:rPr sz="1800" b="0">
                          <a:solidFill>
                            <a:srgbClr val="132C39"/>
                          </a:solidFill>
                          <a:latin typeface="Arial"/>
                          <a:ea typeface="Arial"/>
                          <a:cs typeface="Arial"/>
                        </a:rPr>
                        <a:t>recycling</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Uncoupling and side products</a:t>
                      </a:r>
                    </a:p>
                  </a:txBody>
                  <a:tcPr marL="133350" marR="133350" marT="57150" marB="57150" anchor="ctr">
                    <a:solidFill>
                      <a:srgbClr val="F7F7F2"/>
                    </a:solidFill>
                  </a:tcPr>
                </a:tc>
              </a:tr>
              <a:tr h="881063">
                <a:tc>
                  <a:txBody>
                    <a:bodyPr wrap="square">
                      <a:noAutofit/>
                    </a:bodyPr>
                    <a:lstStyle/>
                    <a:p>
                      <a:r>
                        <a:rPr sz="1800" b="0">
                          <a:solidFill>
                            <a:srgbClr val="132C39"/>
                          </a:solidFill>
                          <a:latin typeface="Arial"/>
                          <a:ea typeface="Arial"/>
                          <a:cs typeface="Arial"/>
                        </a:rPr>
                        <a:t>Confirmation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Product conversion and</a:t>
                      </a:r>
                    </a:p>
                    <a:p>
                      <a:r>
                        <a:rPr sz="1800" b="0">
                          <a:solidFill>
                            <a:srgbClr val="132C39"/>
                          </a:solidFill>
                          <a:latin typeface="Arial"/>
                          <a:ea typeface="Arial"/>
                          <a:cs typeface="Arial"/>
                        </a:rPr>
                        <a:t>stereoselectivity</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Desired-product yield and</a:t>
                      </a:r>
                    </a:p>
                    <a:p>
                      <a:r>
                        <a:rPr sz="1800" b="0">
                          <a:solidFill>
                            <a:srgbClr val="132C39"/>
                          </a:solidFill>
                          <a:latin typeface="Arial"/>
                          <a:ea typeface="Arial"/>
                          <a:cs typeface="Arial"/>
                        </a:rPr>
                        <a:t>distribution</a:t>
                      </a:r>
                    </a:p>
                  </a:txBody>
                  <a:tcPr marL="133350" marR="133350" marT="57150" marB="57150" anchor="ctr">
                    <a:solidFill>
                      <a:srgbClr val="F7F7F2"/>
                    </a:solidFill>
                  </a:tcPr>
                </a:tc>
              </a:tr>
              <a:tr h="881063">
                <a:tc>
                  <a:txBody>
                    <a:bodyPr wrap="square">
                      <a:noAutofit/>
                    </a:bodyPr>
                    <a:lstStyle/>
                    <a:p>
                      <a:r>
                        <a:rPr sz="1800" b="0">
                          <a:solidFill>
                            <a:srgbClr val="132C39"/>
                          </a:solidFill>
                          <a:latin typeface="Arial"/>
                          <a:ea typeface="Arial"/>
                          <a:cs typeface="Arial"/>
                        </a:rPr>
                        <a:t>Additional</a:t>
                      </a:r>
                    </a:p>
                    <a:p>
                      <a:r>
                        <a:rPr sz="1800" b="0">
                          <a:solidFill>
                            <a:srgbClr val="132C39"/>
                          </a:solidFill>
                          <a:latin typeface="Arial"/>
                          <a:ea typeface="Arial"/>
                          <a:cs typeface="Arial"/>
                        </a:rPr>
                        <a:t>access</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340-nm reader and suitable</a:t>
                      </a:r>
                    </a:p>
                    <a:p>
                      <a:r>
                        <a:rPr sz="1800" b="0">
                          <a:solidFill>
                            <a:srgbClr val="132C39"/>
                          </a:solidFill>
                          <a:latin typeface="Arial"/>
                          <a:ea typeface="Arial"/>
                          <a:cs typeface="Arial"/>
                        </a:rPr>
                        <a:t>product analysis</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Validated product-resolving</a:t>
                      </a:r>
                    </a:p>
                    <a:p>
                      <a:r>
                        <a:rPr sz="1800" b="0">
                          <a:solidFill>
                            <a:srgbClr val="132C39"/>
                          </a:solidFill>
                          <a:latin typeface="Arial"/>
                          <a:ea typeface="Arial"/>
                          <a:cs typeface="Arial"/>
                        </a:rPr>
                        <a:t>analytics</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1111778104"/>
      </p:ext>
    </p:extLst>
  </p:cSld>
</p:sld>
</file>

<file path=ppt/slides/slide1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B44D6A7-4EEE-45B4-952F-ACD8867DECB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An illustrative recurring round budget</a:t>
            </a:r>
          </a:p>
        </p:txBody>
      </p:sp>
      <p:sp>
        <p:nvSpPr>
          <p:cNvPr id="2" name="text-1">
            <a:extLst xmlns:a="http://schemas.openxmlformats.org/drawingml/2006/main">
              <a:ext uri="{FF2B5EF4-FFF2-40B4-BE49-F238E27FC236}">
                <a16:creationId xmlns:a16="http://schemas.microsoft.com/office/drawing/2014/main" id="{29466117-08F4-42C7-A420-945B9CDA6C63}"/>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18</a:t>
            </a:r>
          </a:p>
        </p:txBody>
      </p:sp>
      <p:sp>
        <p:nvSpPr>
          <p:cNvPr id="3" name="text-2">
            <a:extLst xmlns:a="http://schemas.openxmlformats.org/drawingml/2006/main">
              <a:ext uri="{FF2B5EF4-FFF2-40B4-BE49-F238E27FC236}">
                <a16:creationId xmlns:a16="http://schemas.microsoft.com/office/drawing/2014/main" id="{62609883-C11A-46E4-A12B-45133CEB0357}"/>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Teaching assumptions in NOK. Equipment acquisition and current supplier quotations are separate.</a:t>
            </a:r>
          </a:p>
        </p:txBody>
      </p:sp>
      <p:graphicFrame>
        <p:nvGraphicFramePr>
          <p:cNvPr id="12" name="Chart"/>
          <p:cNvGraphicFramePr/>
          <p:nvPr/>
        </p:nvGraphicFramePr>
        <p:xfrm>
          <a:off xmlns:a="http://schemas.openxmlformats.org/drawingml/2006/main" x="590550" y="1552575"/>
          <a:ext xmlns:a="http://schemas.openxmlformats.org/drawingml/2006/main" cx="7762875" cy="4305300"/>
        </p:xfrm>
        <a:graphic xmlns:a="http://schemas.openxmlformats.org/drawingml/2006/main">
          <a:graphicData uri="http://schemas.openxmlformats.org/drawingml/2006/chart">
            <c:chart xmlns:r="http://schemas.openxmlformats.org/officeDocument/2006/relationships" xmlns:c="http://schemas.openxmlformats.org/drawingml/2006/chart" r:id="R6bb8936866cd4c02"/>
          </a:graphicData>
        </a:graphic>
      </p:graphicFrame>
      <p:sp>
        <p:nvSpPr>
          <p:cNvPr id="5" name="text-3">
            <a:extLst xmlns:a="http://schemas.openxmlformats.org/drawingml/2006/main">
              <a:ext uri="{FF2B5EF4-FFF2-40B4-BE49-F238E27FC236}">
                <a16:creationId xmlns:a16="http://schemas.microsoft.com/office/drawing/2014/main" id="{4F4CD0B8-7F0E-4902-8E31-ED3C2DCD247C}"/>
              </a:ext>
            </a:extLst>
          </p:cNvPr>
          <p:cNvSpPr>
            <a:spLocks xmlns:a="http://schemas.openxmlformats.org/drawingml/2006/main" noGrp="1"/>
          </p:cNvSpPr>
          <p:nvPr/>
        </p:nvSpPr>
        <p:spPr>
          <a:xfrm xmlns:a="http://schemas.openxmlformats.org/drawingml/2006/main">
            <a:off x="8782050" y="2057400"/>
            <a:ext cx="290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132C39"/>
                </a:solidFill>
                <a:latin typeface="Arial"/>
                <a:ea typeface="Arial"/>
                <a:cs typeface="Arial"/>
              </a:defRPr>
            </a:pPr>
            <a:r>
              <a:rPr sz="4200" b="1">
                <a:solidFill>
                  <a:srgbClr val="132C39"/>
                </a:solidFill>
                <a:latin typeface="Arial"/>
                <a:ea typeface="Arial"/>
                <a:cs typeface="Arial"/>
              </a:rPr>
              <a:t>22,869</a:t>
            </a:r>
          </a:p>
        </p:txBody>
      </p:sp>
      <p:sp>
        <p:nvSpPr>
          <p:cNvPr id="6" name="text-4">
            <a:extLst xmlns:a="http://schemas.openxmlformats.org/drawingml/2006/main">
              <a:ext uri="{FF2B5EF4-FFF2-40B4-BE49-F238E27FC236}">
                <a16:creationId xmlns:a16="http://schemas.microsoft.com/office/drawing/2014/main" id="{E3981695-9E66-4771-8573-BEFC2ACFAE86}"/>
              </a:ext>
            </a:extLst>
          </p:cNvPr>
          <p:cNvSpPr>
            <a:spLocks xmlns:a="http://schemas.openxmlformats.org/drawingml/2006/main" noGrp="1"/>
          </p:cNvSpPr>
          <p:nvPr/>
        </p:nvSpPr>
        <p:spPr>
          <a:xfrm xmlns:a="http://schemas.openxmlformats.org/drawingml/2006/main">
            <a:off x="8810625" y="2828925"/>
            <a:ext cx="2638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56A73"/>
                </a:solidFill>
                <a:latin typeface="Arial"/>
                <a:ea typeface="Arial"/>
                <a:cs typeface="Arial"/>
              </a:defRPr>
            </a:pPr>
            <a:r>
              <a:rPr sz="1875" b="0">
                <a:solidFill>
                  <a:srgbClr val="556A73"/>
                </a:solidFill>
                <a:latin typeface="Arial"/>
                <a:ea typeface="Arial"/>
                <a:cs typeface="Arial"/>
              </a:rPr>
              <a:t>NOK per round</a:t>
            </a:r>
          </a:p>
        </p:txBody>
      </p:sp>
      <p:sp>
        <p:nvSpPr>
          <p:cNvPr id="7" name="text-5">
            <a:extLst xmlns:a="http://schemas.openxmlformats.org/drawingml/2006/main">
              <a:ext uri="{FF2B5EF4-FFF2-40B4-BE49-F238E27FC236}">
                <a16:creationId xmlns:a16="http://schemas.microsoft.com/office/drawing/2014/main" id="{99379E68-287F-4457-8F43-C70D262D6BCB}"/>
              </a:ext>
            </a:extLst>
          </p:cNvPr>
          <p:cNvSpPr>
            <a:spLocks xmlns:a="http://schemas.openxmlformats.org/drawingml/2006/main" noGrp="1"/>
          </p:cNvSpPr>
          <p:nvPr/>
        </p:nvSpPr>
        <p:spPr>
          <a:xfrm xmlns:a="http://schemas.openxmlformats.org/drawingml/2006/main">
            <a:off x="8782050" y="3924300"/>
            <a:ext cx="2876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127F7B"/>
                </a:solidFill>
                <a:latin typeface="Arial"/>
                <a:ea typeface="Arial"/>
                <a:cs typeface="Arial"/>
              </a:defRPr>
            </a:pPr>
            <a:r>
              <a:rPr sz="4350" b="1">
                <a:solidFill>
                  <a:srgbClr val="127F7B"/>
                </a:solidFill>
                <a:latin typeface="Arial"/>
                <a:ea typeface="Arial"/>
                <a:cs typeface="Arial"/>
              </a:rPr>
              <a:t>159</a:t>
            </a:r>
          </a:p>
        </p:txBody>
      </p:sp>
      <p:sp>
        <p:nvSpPr>
          <p:cNvPr id="8" name="text-6">
            <a:extLst xmlns:a="http://schemas.openxmlformats.org/drawingml/2006/main">
              <a:ext uri="{FF2B5EF4-FFF2-40B4-BE49-F238E27FC236}">
                <a16:creationId xmlns:a16="http://schemas.microsoft.com/office/drawing/2014/main" id="{56336D6E-83F8-4535-A0ED-75F5C8975174}"/>
              </a:ext>
            </a:extLst>
          </p:cNvPr>
          <p:cNvSpPr>
            <a:spLocks xmlns:a="http://schemas.openxmlformats.org/drawingml/2006/main" noGrp="1"/>
          </p:cNvSpPr>
          <p:nvPr/>
        </p:nvSpPr>
        <p:spPr>
          <a:xfrm xmlns:a="http://schemas.openxmlformats.org/drawingml/2006/main">
            <a:off x="8810625" y="4714875"/>
            <a:ext cx="2714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32C39"/>
                </a:solidFill>
                <a:latin typeface="Arial"/>
                <a:ea typeface="Arial"/>
                <a:cs typeface="Arial"/>
              </a:defRPr>
            </a:pPr>
            <a:r>
              <a:rPr sz="1800" b="0">
                <a:solidFill>
                  <a:srgbClr val="132C39"/>
                </a:solidFill>
                <a:latin typeface="Arial"/>
                <a:ea typeface="Arial"/>
                <a:cs typeface="Arial"/>
              </a:rPr>
              <a:t>NOK per usable result</a:t>
            </a:r>
          </a:p>
          <a:p xmlns:a="http://schemas.openxmlformats.org/drawingml/2006/main">
            <a:pPr>
              <a:defRPr sz="1800" b="0">
                <a:solidFill>
                  <a:srgbClr val="132C39"/>
                </a:solidFill>
                <a:latin typeface="Arial"/>
                <a:ea typeface="Arial"/>
                <a:cs typeface="Arial"/>
              </a:defRPr>
            </a:pPr>
            <a:r>
              <a:rPr sz="1800" b="0">
                <a:solidFill>
                  <a:srgbClr val="132C39"/>
                </a:solidFill>
                <a:latin typeface="Arial"/>
                <a:ea typeface="Arial"/>
                <a:cs typeface="Arial"/>
              </a:rPr>
              <a:t>144 expected usable clones</a:t>
            </a:r>
          </a:p>
        </p:txBody>
      </p:sp>
    </p:spTree>
    <p:extLst>
      <p:ext uri="{BB962C8B-B14F-4D97-AF65-F5344CB8AC3E}">
        <p14:creationId xmlns:p14="http://schemas.microsoft.com/office/powerpoint/2010/main" val="1210024628"/>
      </p:ext>
    </p:extLst>
  </p:cSld>
</p:sld>
</file>

<file path=ppt/slides/slide1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8C89D5FF-49A5-4DF2-97D2-4875866E0D60}"/>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Evidence for the next round</a:t>
            </a:r>
          </a:p>
        </p:txBody>
      </p:sp>
      <p:sp>
        <p:nvSpPr>
          <p:cNvPr id="2" name="text-1">
            <a:extLst xmlns:a="http://schemas.openxmlformats.org/drawingml/2006/main">
              <a:ext uri="{FF2B5EF4-FFF2-40B4-BE49-F238E27FC236}">
                <a16:creationId xmlns:a16="http://schemas.microsoft.com/office/drawing/2014/main" id="{94FD9763-C623-45E4-A945-BECE46F35E31}"/>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19</a:t>
            </a:r>
          </a:p>
        </p:txBody>
      </p:sp>
      <p:graphicFrame>
        <p:nvGraphicFramePr>
          <p:cNvPr id="6" name=""/>
          <p:cNvGraphicFramePr/>
          <p:nvPr/>
        </p:nvGraphicFramePr>
        <p:xfrm>
          <a:off xmlns:a="http://schemas.openxmlformats.org/drawingml/2006/main" x="609600" y="1590675"/>
          <a:ext xmlns:a="http://schemas.openxmlformats.org/drawingml/2006/main" cx="10972800" cy="4238625"/>
        </p:xfrm>
        <a:graphic xmlns:a="http://schemas.openxmlformats.org/drawingml/2006/main">
          <a:graphicData uri="http://schemas.openxmlformats.org/drawingml/2006/table">
            <a:tbl>
              <a:tblPr firstRow="1" bandRow="0"/>
              <a:tblGrid>
                <a:gridCol w="5095875"/>
                <a:gridCol w="5876925"/>
              </a:tblGrid>
              <a:tr h="552450">
                <a:tc>
                  <a:txBody>
                    <a:bodyPr wrap="square">
                      <a:noAutofit/>
                    </a:bodyPr>
                    <a:lstStyle/>
                    <a:p>
                      <a:r>
                        <a:rPr sz="1875" b="1">
                          <a:solidFill>
                            <a:srgbClr val="FFFFFF"/>
                          </a:solidFill>
                          <a:latin typeface="Arial"/>
                          <a:ea typeface="Arial"/>
                          <a:cs typeface="Arial"/>
                        </a:rPr>
                        <a:t>Observation</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Next decision</a:t>
                      </a:r>
                    </a:p>
                  </a:txBody>
                  <a:tcPr marL="133350" marR="133350" marT="57150" marB="57150" anchor="ctr">
                    <a:solidFill>
                      <a:srgbClr val="132C39"/>
                    </a:solidFill>
                  </a:tcPr>
                </a:tc>
              </a:tr>
              <a:tr h="737235">
                <a:tc>
                  <a:txBody>
                    <a:bodyPr wrap="square">
                      <a:noAutofit/>
                    </a:bodyPr>
                    <a:lstStyle/>
                    <a:p>
                      <a:r>
                        <a:rPr sz="1875" b="0">
                          <a:solidFill>
                            <a:srgbClr val="132C39"/>
                          </a:solidFill>
                          <a:latin typeface="Arial"/>
                          <a:ea typeface="Arial"/>
                          <a:cs typeface="Arial"/>
                        </a:rPr>
                        <a:t>Controls fail</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Investigate and repeat the affected</a:t>
                      </a:r>
                    </a:p>
                    <a:p>
                      <a:r>
                        <a:rPr sz="1875" b="0">
                          <a:solidFill>
                            <a:srgbClr val="132C39"/>
                          </a:solidFill>
                          <a:latin typeface="Arial"/>
                          <a:ea typeface="Arial"/>
                          <a:cs typeface="Arial"/>
                        </a:rPr>
                        <a:t>measurements.</a:t>
                      </a:r>
                    </a:p>
                  </a:txBody>
                  <a:tcPr marL="133350" marR="133350" marT="57150" marB="57150" anchor="ctr">
                    <a:solidFill>
                      <a:srgbClr val="F7F7F2"/>
                    </a:solidFill>
                  </a:tcPr>
                </a:tc>
              </a:tr>
              <a:tr h="737235">
                <a:tc>
                  <a:txBody>
                    <a:bodyPr wrap="square">
                      <a:noAutofit/>
                    </a:bodyPr>
                    <a:lstStyle/>
                    <a:p>
                      <a:r>
                        <a:rPr sz="1875" b="0">
                          <a:solidFill>
                            <a:srgbClr val="132C39"/>
                          </a:solidFill>
                          <a:latin typeface="Arial"/>
                          <a:ea typeface="Arial"/>
                          <a:cs typeface="Arial"/>
                        </a:rPr>
                        <a:t>Primary hit fails confirmation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Check recovery, identity, preparation and</a:t>
                      </a:r>
                    </a:p>
                    <a:p>
                      <a:r>
                        <a:rPr sz="1875" b="0">
                          <a:solidFill>
                            <a:srgbClr val="132C39"/>
                          </a:solidFill>
                          <a:latin typeface="Arial"/>
                          <a:ea typeface="Arial"/>
                          <a:cs typeface="Arial"/>
                        </a:rPr>
                        <a:t>assay transfer.</a:t>
                      </a:r>
                    </a:p>
                  </a:txBody>
                  <a:tcPr marL="133350" marR="133350" marT="57150" marB="57150" anchor="ctr">
                    <a:solidFill>
                      <a:srgbClr val="F7F7F2"/>
                    </a:solidFill>
                  </a:tcPr>
                </a:tc>
              </a:tr>
              <a:tr h="737235">
                <a:tc>
                  <a:txBody>
                    <a:bodyPr wrap="square">
                      <a:noAutofit/>
                    </a:bodyPr>
                    <a:lstStyle/>
                    <a:p>
                      <a:r>
                        <a:rPr sz="1875" b="0">
                          <a:solidFill>
                            <a:srgbClr val="132C39"/>
                          </a:solidFill>
                          <a:latin typeface="Arial"/>
                          <a:ea typeface="Arial"/>
                          <a:cs typeface="Arial"/>
                        </a:rPr>
                        <a:t>Improvement persists with required</a:t>
                      </a:r>
                    </a:p>
                    <a:p>
                      <a:r>
                        <a:rPr sz="1875" b="0">
                          <a:solidFill>
                            <a:srgbClr val="132C39"/>
                          </a:solidFill>
                          <a:latin typeface="Arial"/>
                          <a:ea typeface="Arial"/>
                          <a:cs typeface="Arial"/>
                        </a:rPr>
                        <a:t>properties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Verify sequence and stock, then consider a</a:t>
                      </a:r>
                    </a:p>
                    <a:p>
                      <a:r>
                        <a:rPr sz="1875" b="0">
                          <a:solidFill>
                            <a:srgbClr val="132C39"/>
                          </a:solidFill>
                          <a:latin typeface="Arial"/>
                          <a:ea typeface="Arial"/>
                          <a:cs typeface="Arial"/>
                        </a:rPr>
                        <a:t>new parent.</a:t>
                      </a:r>
                    </a:p>
                  </a:txBody>
                  <a:tcPr marL="133350" marR="133350" marT="57150" marB="57150" anchor="ctr">
                    <a:solidFill>
                      <a:srgbClr val="F7F7F2"/>
                    </a:solidFill>
                  </a:tcPr>
                </a:tc>
              </a:tr>
              <a:tr h="737235">
                <a:tc>
                  <a:txBody>
                    <a:bodyPr wrap="square">
                      <a:noAutofit/>
                    </a:bodyPr>
                    <a:lstStyle/>
                    <a:p>
                      <a:r>
                        <a:rPr sz="1875" b="0">
                          <a:solidFill>
                            <a:srgbClr val="132C39"/>
                          </a:solidFill>
                          <a:latin typeface="Arial"/>
                          <a:ea typeface="Arial"/>
                          <a:cs typeface="Arial"/>
                        </a:rPr>
                        <a:t>Different lineages improve different</a:t>
                      </a:r>
                    </a:p>
                    <a:p>
                      <a:r>
                        <a:rPr sz="1875" b="0">
                          <a:solidFill>
                            <a:srgbClr val="132C39"/>
                          </a:solidFill>
                          <a:latin typeface="Arial"/>
                          <a:ea typeface="Arial"/>
                          <a:cs typeface="Arial"/>
                        </a:rPr>
                        <a:t>properties</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Retain alternatives and test combinations</a:t>
                      </a:r>
                    </a:p>
                    <a:p>
                      <a:r>
                        <a:rPr sz="1875" b="0">
                          <a:solidFill>
                            <a:srgbClr val="132C39"/>
                          </a:solidFill>
                          <a:latin typeface="Arial"/>
                          <a:ea typeface="Arial"/>
                          <a:cs typeface="Arial"/>
                        </a:rPr>
                        <a:t>explicitly.</a:t>
                      </a:r>
                    </a:p>
                  </a:txBody>
                  <a:tcPr marL="133350" marR="133350" marT="57150" marB="57150" anchor="ctr">
                    <a:solidFill>
                      <a:srgbClr val="F7F7F2"/>
                    </a:solidFill>
                  </a:tcPr>
                </a:tc>
              </a:tr>
              <a:tr h="737235">
                <a:tc>
                  <a:txBody>
                    <a:bodyPr wrap="square">
                      <a:noAutofit/>
                    </a:bodyPr>
                    <a:lstStyle/>
                    <a:p>
                      <a:r>
                        <a:rPr sz="1875" b="0">
                          <a:solidFill>
                            <a:srgbClr val="132C39"/>
                          </a:solidFill>
                          <a:latin typeface="Arial"/>
                          <a:ea typeface="Arial"/>
                          <a:cs typeface="Arial"/>
                        </a:rPr>
                        <a:t>A valid round finds no useful</a:t>
                      </a:r>
                    </a:p>
                    <a:p>
                      <a:r>
                        <a:rPr sz="1875" b="0">
                          <a:solidFill>
                            <a:srgbClr val="132C39"/>
                          </a:solidFill>
                          <a:latin typeface="Arial"/>
                          <a:ea typeface="Arial"/>
                          <a:cs typeface="Arial"/>
                        </a:rPr>
                        <a:t>improvement</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Reassess exploration, parent choice and the</a:t>
                      </a:r>
                    </a:p>
                    <a:p>
                      <a:r>
                        <a:rPr sz="1875" b="0">
                          <a:solidFill>
                            <a:srgbClr val="132C39"/>
                          </a:solidFill>
                          <a:latin typeface="Arial"/>
                          <a:ea typeface="Arial"/>
                          <a:cs typeface="Arial"/>
                        </a:rPr>
                        <a:t>objective.</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1442721214"/>
      </p:ext>
    </p:extLst>
  </p:cSld>
</p:sld>
</file>

<file path=ppt/slides/slide20.xml><?xml version="1.0" encoding="utf-8"?>
<p:sld xmlns:p="http://schemas.openxmlformats.org/presentationml/2006/main">
  <p:cSld>
    <p:bg>
      <p:bgPr>
        <a:solidFill xmlns:a="http://schemas.openxmlformats.org/drawingml/2006/main">
          <a:srgbClr val="132C3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40E13F26-8F01-4243-AE9F-B09655972863}"/>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The first campaign</a:t>
            </a:r>
          </a:p>
        </p:txBody>
      </p:sp>
      <p:sp>
        <p:nvSpPr>
          <p:cNvPr id="2" name="text-1">
            <a:extLst xmlns:a="http://schemas.openxmlformats.org/drawingml/2006/main">
              <a:ext uri="{FF2B5EF4-FFF2-40B4-BE49-F238E27FC236}">
                <a16:creationId xmlns:a16="http://schemas.microsoft.com/office/drawing/2014/main" id="{50194D2F-C76C-4705-A896-0662E38E3445}"/>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EC5C8"/>
                </a:solidFill>
                <a:latin typeface="Arial"/>
                <a:ea typeface="Arial"/>
                <a:cs typeface="Arial"/>
              </a:defRPr>
            </a:pPr>
            <a:r>
              <a:rPr sz="1200" b="0">
                <a:solidFill>
                  <a:srgbClr val="AEC5C8"/>
                </a:solidFill>
                <a:latin typeface="Arial"/>
                <a:ea typeface="Arial"/>
                <a:cs typeface="Arial"/>
              </a:rPr>
              <a:t>20</a:t>
            </a:r>
          </a:p>
        </p:txBody>
      </p:sp>
      <p:sp>
        <p:nvSpPr>
          <p:cNvPr id="3" name="text-2">
            <a:extLst xmlns:a="http://schemas.openxmlformats.org/drawingml/2006/main">
              <a:ext uri="{FF2B5EF4-FFF2-40B4-BE49-F238E27FC236}">
                <a16:creationId xmlns:a16="http://schemas.microsoft.com/office/drawing/2014/main" id="{BC7EF4F8-1557-4FB9-A26A-DA2A46CEC127}"/>
              </a:ext>
            </a:extLst>
          </p:cNvPr>
          <p:cNvSpPr>
            <a:spLocks xmlns:a="http://schemas.openxmlformats.org/drawingml/2006/main" noGrp="1"/>
          </p:cNvSpPr>
          <p:nvPr/>
        </p:nvSpPr>
        <p:spPr>
          <a:xfrm xmlns:a="http://schemas.openxmlformats.org/drawingml/2006/main">
            <a:off x="609600" y="1638300"/>
            <a:ext cx="2847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73CEC2"/>
                </a:solidFill>
                <a:latin typeface="Arial"/>
                <a:ea typeface="Arial"/>
                <a:cs typeface="Arial"/>
              </a:defRPr>
            </a:pPr>
            <a:r>
              <a:rPr sz="2100" b="1">
                <a:solidFill>
                  <a:srgbClr val="73CEC2"/>
                </a:solidFill>
                <a:latin typeface="Arial"/>
                <a:ea typeface="Arial"/>
                <a:cs typeface="Arial"/>
              </a:rPr>
              <a:t>Parent and objective</a:t>
            </a:r>
          </a:p>
        </p:txBody>
      </p:sp>
      <p:sp>
        <p:nvSpPr>
          <p:cNvPr id="4" name="text-3">
            <a:extLst xmlns:a="http://schemas.openxmlformats.org/drawingml/2006/main">
              <a:ext uri="{FF2B5EF4-FFF2-40B4-BE49-F238E27FC236}">
                <a16:creationId xmlns:a16="http://schemas.microsoft.com/office/drawing/2014/main" id="{AC8F71CD-79DD-4BE5-BBC4-A6015E1AA156}"/>
              </a:ext>
            </a:extLst>
          </p:cNvPr>
          <p:cNvSpPr>
            <a:spLocks xmlns:a="http://schemas.openxmlformats.org/drawingml/2006/main" noGrp="1"/>
          </p:cNvSpPr>
          <p:nvPr/>
        </p:nvSpPr>
        <p:spPr>
          <a:xfrm xmlns:a="http://schemas.openxmlformats.org/drawingml/2006/main">
            <a:off x="3667125" y="1638300"/>
            <a:ext cx="79152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 verified starting sequence and a useful comparison under stated conditions.</a:t>
            </a:r>
          </a:p>
        </p:txBody>
      </p:sp>
      <p:sp>
        <p:nvSpPr>
          <p:cNvPr id="5" name="text-4">
            <a:extLst xmlns:a="http://schemas.openxmlformats.org/drawingml/2006/main">
              <a:ext uri="{FF2B5EF4-FFF2-40B4-BE49-F238E27FC236}">
                <a16:creationId xmlns:a16="http://schemas.microsoft.com/office/drawing/2014/main" id="{04FBDC10-C072-4491-8F06-AD8945E9C717}"/>
              </a:ext>
            </a:extLst>
          </p:cNvPr>
          <p:cNvSpPr>
            <a:spLocks xmlns:a="http://schemas.openxmlformats.org/drawingml/2006/main" noGrp="1"/>
          </p:cNvSpPr>
          <p:nvPr/>
        </p:nvSpPr>
        <p:spPr>
          <a:xfrm xmlns:a="http://schemas.openxmlformats.org/drawingml/2006/main">
            <a:off x="609600" y="2667000"/>
            <a:ext cx="2847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73CEC2"/>
                </a:solidFill>
                <a:latin typeface="Arial"/>
                <a:ea typeface="Arial"/>
                <a:cs typeface="Arial"/>
              </a:defRPr>
            </a:pPr>
            <a:r>
              <a:rPr sz="2100" b="1">
                <a:solidFill>
                  <a:srgbClr val="73CEC2"/>
                </a:solidFill>
                <a:latin typeface="Arial"/>
                <a:ea typeface="Arial"/>
                <a:cs typeface="Arial"/>
              </a:rPr>
              <a:t>Assay and access</a:t>
            </a:r>
          </a:p>
        </p:txBody>
      </p:sp>
      <p:sp>
        <p:nvSpPr>
          <p:cNvPr id="6" name="text-5">
            <a:extLst xmlns:a="http://schemas.openxmlformats.org/drawingml/2006/main">
              <a:ext uri="{FF2B5EF4-FFF2-40B4-BE49-F238E27FC236}">
                <a16:creationId xmlns:a16="http://schemas.microsoft.com/office/drawing/2014/main" id="{0855D5DA-2FB4-477B-BF61-8F7B95735499}"/>
              </a:ext>
            </a:extLst>
          </p:cNvPr>
          <p:cNvSpPr>
            <a:spLocks xmlns:a="http://schemas.openxmlformats.org/drawingml/2006/main" noGrp="1"/>
          </p:cNvSpPr>
          <p:nvPr/>
        </p:nvSpPr>
        <p:spPr>
          <a:xfrm xmlns:a="http://schemas.openxmlformats.org/drawingml/2006/main">
            <a:off x="3667125" y="2667000"/>
            <a:ext cx="79152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 reproducible parent assay with booked confirmation capacity.</a:t>
            </a:r>
          </a:p>
        </p:txBody>
      </p:sp>
      <p:sp>
        <p:nvSpPr>
          <p:cNvPr id="7" name="text-6">
            <a:extLst xmlns:a="http://schemas.openxmlformats.org/drawingml/2006/main">
              <a:ext uri="{FF2B5EF4-FFF2-40B4-BE49-F238E27FC236}">
                <a16:creationId xmlns:a16="http://schemas.microsoft.com/office/drawing/2014/main" id="{B4C22A0F-96FA-4A9D-9578-A4514DFC3914}"/>
              </a:ext>
            </a:extLst>
          </p:cNvPr>
          <p:cNvSpPr>
            <a:spLocks xmlns:a="http://schemas.openxmlformats.org/drawingml/2006/main" noGrp="1"/>
          </p:cNvSpPr>
          <p:nvPr/>
        </p:nvSpPr>
        <p:spPr>
          <a:xfrm xmlns:a="http://schemas.openxmlformats.org/drawingml/2006/main">
            <a:off x="609600" y="3695700"/>
            <a:ext cx="2847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73CEC2"/>
                </a:solidFill>
                <a:latin typeface="Arial"/>
                <a:ea typeface="Arial"/>
                <a:cs typeface="Arial"/>
              </a:defRPr>
            </a:pPr>
            <a:r>
              <a:rPr sz="2100" b="1">
                <a:solidFill>
                  <a:srgbClr val="73CEC2"/>
                </a:solidFill>
                <a:latin typeface="Arial"/>
                <a:ea typeface="Arial"/>
                <a:cs typeface="Arial"/>
              </a:rPr>
              <a:t>Pilot and records</a:t>
            </a:r>
          </a:p>
        </p:txBody>
      </p:sp>
      <p:sp>
        <p:nvSpPr>
          <p:cNvPr id="8" name="text-7">
            <a:extLst xmlns:a="http://schemas.openxmlformats.org/drawingml/2006/main">
              <a:ext uri="{FF2B5EF4-FFF2-40B4-BE49-F238E27FC236}">
                <a16:creationId xmlns:a16="http://schemas.microsoft.com/office/drawing/2014/main" id="{2D967692-7076-42C4-A74F-73DE7D71F94B}"/>
              </a:ext>
            </a:extLst>
          </p:cNvPr>
          <p:cNvSpPr>
            <a:spLocks xmlns:a="http://schemas.openxmlformats.org/drawingml/2006/main" noGrp="1"/>
          </p:cNvSpPr>
          <p:nvPr/>
        </p:nvSpPr>
        <p:spPr>
          <a:xfrm xmlns:a="http://schemas.openxmlformats.org/drawingml/2006/main">
            <a:off x="3667125" y="3695700"/>
            <a:ext cx="79152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Known clones tracked through preparation, analysis and recovery.</a:t>
            </a:r>
          </a:p>
        </p:txBody>
      </p:sp>
      <p:sp>
        <p:nvSpPr>
          <p:cNvPr id="9" name="text-8">
            <a:extLst xmlns:a="http://schemas.openxmlformats.org/drawingml/2006/main">
              <a:ext uri="{FF2B5EF4-FFF2-40B4-BE49-F238E27FC236}">
                <a16:creationId xmlns:a16="http://schemas.microsoft.com/office/drawing/2014/main" id="{2A283A70-4C95-46B9-8765-782B5F1C3C86}"/>
              </a:ext>
            </a:extLst>
          </p:cNvPr>
          <p:cNvSpPr>
            <a:spLocks xmlns:a="http://schemas.openxmlformats.org/drawingml/2006/main" noGrp="1"/>
          </p:cNvSpPr>
          <p:nvPr/>
        </p:nvSpPr>
        <p:spPr>
          <a:xfrm xmlns:a="http://schemas.openxmlformats.org/drawingml/2006/main">
            <a:off x="609600" y="4724400"/>
            <a:ext cx="2847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73CEC2"/>
                </a:solidFill>
                <a:latin typeface="Arial"/>
                <a:ea typeface="Arial"/>
                <a:cs typeface="Arial"/>
              </a:defRPr>
            </a:pPr>
            <a:r>
              <a:rPr sz="2100" b="1">
                <a:solidFill>
                  <a:srgbClr val="73CEC2"/>
                </a:solidFill>
                <a:latin typeface="Arial"/>
                <a:ea typeface="Arial"/>
                <a:cs typeface="Arial"/>
              </a:rPr>
              <a:t>Library and budget</a:t>
            </a:r>
          </a:p>
        </p:txBody>
      </p:sp>
      <p:sp>
        <p:nvSpPr>
          <p:cNvPr id="10" name="text-9">
            <a:extLst xmlns:a="http://schemas.openxmlformats.org/drawingml/2006/main">
              <a:ext uri="{FF2B5EF4-FFF2-40B4-BE49-F238E27FC236}">
                <a16:creationId xmlns:a16="http://schemas.microsoft.com/office/drawing/2014/main" id="{273A3ADA-4690-4429-AC5E-4697B87E8B08}"/>
              </a:ext>
            </a:extLst>
          </p:cNvPr>
          <p:cNvSpPr>
            <a:spLocks xmlns:a="http://schemas.openxmlformats.org/drawingml/2006/main" noGrp="1"/>
          </p:cNvSpPr>
          <p:nvPr/>
        </p:nvSpPr>
        <p:spPr>
          <a:xfrm xmlns:a="http://schemas.openxmlformats.org/drawingml/2006/main">
            <a:off x="3667125" y="4724400"/>
            <a:ext cx="79152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 bounded library, repeat allowance and clear next-round criteria.</a:t>
            </a:r>
          </a:p>
        </p:txBody>
      </p:sp>
    </p:spTree>
    <p:extLst>
      <p:ext uri="{BB962C8B-B14F-4D97-AF65-F5344CB8AC3E}">
        <p14:creationId xmlns:p14="http://schemas.microsoft.com/office/powerpoint/2010/main" val="298954776"/>
      </p:ext>
    </p:extLst>
  </p:cSld>
</p:sld>
</file>

<file path=ppt/slides/slide2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18F77393-5A18-4FFE-A679-F4032A36473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Reference: common failure patterns</a:t>
            </a:r>
          </a:p>
        </p:txBody>
      </p:sp>
      <p:sp>
        <p:nvSpPr>
          <p:cNvPr id="2" name="text-1">
            <a:extLst xmlns:a="http://schemas.openxmlformats.org/drawingml/2006/main">
              <a:ext uri="{FF2B5EF4-FFF2-40B4-BE49-F238E27FC236}">
                <a16:creationId xmlns:a16="http://schemas.microsoft.com/office/drawing/2014/main" id="{DD951CBF-7BB5-44A2-BC73-E671BE801B6F}"/>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21</a:t>
            </a:r>
          </a:p>
        </p:txBody>
      </p:sp>
      <p:graphicFrame>
        <p:nvGraphicFramePr>
          <p:cNvPr id="6" name=""/>
          <p:cNvGraphicFramePr/>
          <p:nvPr/>
        </p:nvGraphicFramePr>
        <p:xfrm>
          <a:off xmlns:a="http://schemas.openxmlformats.org/drawingml/2006/main" x="609600" y="1590675"/>
          <a:ext xmlns:a="http://schemas.openxmlformats.org/drawingml/2006/main" cx="10972800" cy="4143375"/>
        </p:xfrm>
        <a:graphic xmlns:a="http://schemas.openxmlformats.org/drawingml/2006/main">
          <a:graphicData uri="http://schemas.openxmlformats.org/drawingml/2006/table">
            <a:tbl>
              <a:tblPr firstRow="1" bandRow="0"/>
              <a:tblGrid>
                <a:gridCol w="5095875"/>
                <a:gridCol w="5876925"/>
              </a:tblGrid>
              <a:tr h="552450">
                <a:tc>
                  <a:txBody>
                    <a:bodyPr wrap="square">
                      <a:noAutofit/>
                    </a:bodyPr>
                    <a:lstStyle/>
                    <a:p>
                      <a:r>
                        <a:rPr sz="1875" b="1">
                          <a:solidFill>
                            <a:srgbClr val="FFFFFF"/>
                          </a:solidFill>
                          <a:latin typeface="Arial"/>
                          <a:ea typeface="Arial"/>
                          <a:cs typeface="Arial"/>
                        </a:rPr>
                        <a:t>Observation</a:t>
                      </a:r>
                    </a:p>
                  </a:txBody>
                  <a:tcPr marL="133350" marR="133350" marT="57150" marB="57150" anchor="ctr">
                    <a:solidFill>
                      <a:srgbClr val="132C39"/>
                    </a:solidFill>
                  </a:tcPr>
                </a:tc>
                <a:tc>
                  <a:txBody>
                    <a:bodyPr wrap="square">
                      <a:noAutofit/>
                    </a:bodyPr>
                    <a:lstStyle/>
                    <a:p>
                      <a:r>
                        <a:rPr sz="1875" b="1">
                          <a:solidFill>
                            <a:srgbClr val="FFFFFF"/>
                          </a:solidFill>
                          <a:latin typeface="Arial"/>
                          <a:ea typeface="Arial"/>
                          <a:cs typeface="Arial"/>
                        </a:rPr>
                        <a:t>Distinguishing check</a:t>
                      </a:r>
                    </a:p>
                  </a:txBody>
                  <a:tcPr marL="133350" marR="133350" marT="57150" marB="57150" anchor="ctr">
                    <a:solidFill>
                      <a:srgbClr val="132C39"/>
                    </a:solidFill>
                  </a:tcPr>
                </a:tc>
              </a:tr>
              <a:tr h="718185">
                <a:tc>
                  <a:txBody>
                    <a:bodyPr wrap="square">
                      <a:noAutofit/>
                    </a:bodyPr>
                    <a:lstStyle/>
                    <a:p>
                      <a:r>
                        <a:rPr sz="1875" b="0">
                          <a:solidFill>
                            <a:srgbClr val="132C39"/>
                          </a:solidFill>
                          <a:latin typeface="Arial"/>
                          <a:ea typeface="Arial"/>
                          <a:cs typeface="Arial"/>
                        </a:rPr>
                        <a:t>Low signal in the parent</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Active reference material, product standard</a:t>
                      </a:r>
                    </a:p>
                    <a:p>
                      <a:r>
                        <a:rPr sz="1875" b="0">
                          <a:solidFill>
                            <a:srgbClr val="132C39"/>
                          </a:solidFill>
                          <a:latin typeface="Arial"/>
                          <a:ea typeface="Arial"/>
                          <a:cs typeface="Arial"/>
                        </a:rPr>
                        <a:t>and fresh reagents</a:t>
                      </a:r>
                    </a:p>
                  </a:txBody>
                  <a:tcPr marL="133350" marR="133350" marT="57150" marB="57150" anchor="ctr">
                    <a:solidFill>
                      <a:srgbClr val="F7F7F2"/>
                    </a:solidFill>
                  </a:tcPr>
                </a:tc>
              </a:tr>
              <a:tr h="718185">
                <a:tc>
                  <a:txBody>
                    <a:bodyPr wrap="square">
                      <a:noAutofit/>
                    </a:bodyPr>
                    <a:lstStyle/>
                    <a:p>
                      <a:r>
                        <a:rPr sz="1875" b="0">
                          <a:solidFill>
                            <a:srgbClr val="132C39"/>
                          </a:solidFill>
                          <a:latin typeface="Arial"/>
                          <a:ea typeface="Arial"/>
                          <a:cs typeface="Arial"/>
                        </a:rPr>
                        <a:t>Strong host background</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Host, reagent and substrate-omission</a:t>
                      </a:r>
                    </a:p>
                    <a:p>
                      <a:r>
                        <a:rPr sz="1875" b="0">
                          <a:solidFill>
                            <a:srgbClr val="132C39"/>
                          </a:solidFill>
                          <a:latin typeface="Arial"/>
                          <a:ea typeface="Arial"/>
                          <a:cs typeface="Arial"/>
                        </a:rPr>
                        <a:t>controls</a:t>
                      </a:r>
                    </a:p>
                  </a:txBody>
                  <a:tcPr marL="133350" marR="133350" marT="57150" marB="57150" anchor="ctr">
                    <a:solidFill>
                      <a:srgbClr val="F7F7F2"/>
                    </a:solidFill>
                  </a:tcPr>
                </a:tc>
              </a:tr>
              <a:tr h="718185">
                <a:tc>
                  <a:txBody>
                    <a:bodyPr wrap="square">
                      <a:noAutofit/>
                    </a:bodyPr>
                    <a:lstStyle/>
                    <a:p>
                      <a:r>
                        <a:rPr sz="1875" b="0">
                          <a:solidFill>
                            <a:srgbClr val="132C39"/>
                          </a:solidFill>
                          <a:latin typeface="Arial"/>
                          <a:ea typeface="Arial"/>
                          <a:cs typeface="Arial"/>
                        </a:rPr>
                        <a:t>Plate-edge or read-order pattern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Distributed parent controls and actual</a:t>
                      </a:r>
                    </a:p>
                    <a:p>
                      <a:r>
                        <a:rPr sz="1875" b="0">
                          <a:solidFill>
                            <a:srgbClr val="132C39"/>
                          </a:solidFill>
                          <a:latin typeface="Arial"/>
                          <a:ea typeface="Arial"/>
                          <a:cs typeface="Arial"/>
                        </a:rPr>
                        <a:t>acquisition times</a:t>
                      </a:r>
                    </a:p>
                  </a:txBody>
                  <a:tcPr marL="133350" marR="133350" marT="57150" marB="57150" anchor="ctr">
                    <a:solidFill>
                      <a:srgbClr val="F7F7F2"/>
                    </a:solidFill>
                  </a:tcPr>
                </a:tc>
              </a:tr>
              <a:tr h="718185">
                <a:tc>
                  <a:txBody>
                    <a:bodyPr wrap="square">
                      <a:noAutofit/>
                    </a:bodyPr>
                    <a:lstStyle/>
                    <a:p>
                      <a:r>
                        <a:rPr sz="1875" b="0">
                          <a:solidFill>
                            <a:srgbClr val="132C39"/>
                          </a:solidFill>
                          <a:latin typeface="Arial"/>
                          <a:ea typeface="Arial"/>
                          <a:cs typeface="Arial"/>
                        </a:rPr>
                        <a:t>Technical wells disagree</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Mixing, bubbles and transfers from a common</a:t>
                      </a:r>
                    </a:p>
                    <a:p>
                      <a:r>
                        <a:rPr sz="1875" b="0">
                          <a:solidFill>
                            <a:srgbClr val="132C39"/>
                          </a:solidFill>
                          <a:latin typeface="Arial"/>
                          <a:ea typeface="Arial"/>
                          <a:cs typeface="Arial"/>
                        </a:rPr>
                        <a:t>preparation</a:t>
                      </a:r>
                    </a:p>
                  </a:txBody>
                  <a:tcPr marL="133350" marR="133350" marT="57150" marB="57150" anchor="ctr">
                    <a:solidFill>
                      <a:srgbClr val="F7F7F2"/>
                    </a:solidFill>
                  </a:tcPr>
                </a:tc>
              </a:tr>
              <a:tr h="718185">
                <a:tc>
                  <a:txBody>
                    <a:bodyPr wrap="square">
                      <a:noAutofit/>
                    </a:bodyPr>
                    <a:lstStyle/>
                    <a:p>
                      <a:r>
                        <a:rPr sz="1875" b="0">
                          <a:solidFill>
                            <a:srgbClr val="132C39"/>
                          </a:solidFill>
                          <a:latin typeface="Arial"/>
                          <a:ea typeface="Arial"/>
                          <a:cs typeface="Arial"/>
                        </a:rPr>
                        <a:t>Hit disappears after purification</a:t>
                      </a:r>
                    </a:p>
                  </a:txBody>
                  <a:tcPr marL="133350" marR="133350" marT="57150" marB="57150" anchor="ctr">
                    <a:solidFill>
                      <a:srgbClr val="F7F7F2"/>
                    </a:solidFill>
                  </a:tcPr>
                </a:tc>
                <a:tc>
                  <a:txBody>
                    <a:bodyPr wrap="square">
                      <a:noAutofit/>
                    </a:bodyPr>
                    <a:lstStyle/>
                    <a:p>
                      <a:r>
                        <a:rPr sz="1875" b="0">
                          <a:solidFill>
                            <a:srgbClr val="132C39"/>
                          </a:solidFill>
                          <a:latin typeface="Arial"/>
                          <a:ea typeface="Arial"/>
                          <a:cs typeface="Arial"/>
                        </a:rPr>
                        <a:t>Target amount and activity across</a:t>
                      </a:r>
                    </a:p>
                    <a:p>
                      <a:r>
                        <a:rPr sz="1875" b="0">
                          <a:solidFill>
                            <a:srgbClr val="132C39"/>
                          </a:solidFill>
                          <a:latin typeface="Arial"/>
                          <a:ea typeface="Arial"/>
                          <a:cs typeface="Arial"/>
                        </a:rPr>
                        <a:t>preparation stages</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1923832940"/>
      </p:ext>
    </p:extLst>
  </p:cSld>
</p:sld>
</file>

<file path=ppt/slides/slide2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4E61A362-BDE6-4D8F-AA20-CAB69B458751}"/>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Reference: criteria for advanced methods</a:t>
            </a:r>
          </a:p>
        </p:txBody>
      </p:sp>
      <p:sp>
        <p:nvSpPr>
          <p:cNvPr id="2" name="text-1">
            <a:extLst xmlns:a="http://schemas.openxmlformats.org/drawingml/2006/main">
              <a:ext uri="{FF2B5EF4-FFF2-40B4-BE49-F238E27FC236}">
                <a16:creationId xmlns:a16="http://schemas.microsoft.com/office/drawing/2014/main" id="{532FED2A-446A-498D-9215-A6C6E1408C30}"/>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22</a:t>
            </a:r>
          </a:p>
        </p:txBody>
      </p:sp>
      <p:graphicFrame>
        <p:nvGraphicFramePr>
          <p:cNvPr id="6" name=""/>
          <p:cNvGraphicFramePr/>
          <p:nvPr/>
        </p:nvGraphicFramePr>
        <p:xfrm>
          <a:off xmlns:a="http://schemas.openxmlformats.org/drawingml/2006/main" x="609600" y="1590675"/>
          <a:ext xmlns:a="http://schemas.openxmlformats.org/drawingml/2006/main" cx="10972800" cy="4143375"/>
        </p:xfrm>
        <a:graphic xmlns:a="http://schemas.openxmlformats.org/drawingml/2006/main">
          <a:graphicData uri="http://schemas.openxmlformats.org/drawingml/2006/table">
            <a:tbl>
              <a:tblPr firstRow="1" bandRow="0"/>
              <a:tblGrid>
                <a:gridCol w="3638550"/>
                <a:gridCol w="7334250"/>
              </a:tblGrid>
              <a:tr h="552450">
                <a:tc>
                  <a:txBody>
                    <a:bodyPr wrap="square">
                      <a:noAutofit/>
                    </a:bodyPr>
                    <a:lstStyle/>
                    <a:p>
                      <a:r>
                        <a:rPr sz="1800" b="1">
                          <a:solidFill>
                            <a:srgbClr val="FFFFFF"/>
                          </a:solidFill>
                          <a:latin typeface="Arial"/>
                          <a:ea typeface="Arial"/>
                          <a:cs typeface="Arial"/>
                        </a:rPr>
                        <a:t>Method</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Evidence needed before adoption</a:t>
                      </a:r>
                    </a:p>
                  </a:txBody>
                  <a:tcPr marL="133350" marR="133350" marT="57150" marB="57150" anchor="ctr">
                    <a:solidFill>
                      <a:srgbClr val="132C39"/>
                    </a:solidFill>
                  </a:tcPr>
                </a:tc>
              </a:tr>
              <a:tr h="718185">
                <a:tc>
                  <a:txBody>
                    <a:bodyPr wrap="square">
                      <a:noAutofit/>
                    </a:bodyPr>
                    <a:lstStyle/>
                    <a:p>
                      <a:r>
                        <a:rPr sz="1800" b="0">
                          <a:solidFill>
                            <a:srgbClr val="132C39"/>
                          </a:solidFill>
                          <a:latin typeface="Arial"/>
                          <a:ea typeface="Arial"/>
                          <a:cs typeface="Arial"/>
                        </a:rPr>
                        <a:t>Colony imaging or droplets</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Spatial/compartment signal predicts recovered enzyme</a:t>
                      </a:r>
                    </a:p>
                    <a:p>
                      <a:r>
                        <a:rPr sz="1800" b="0">
                          <a:solidFill>
                            <a:srgbClr val="132C39"/>
                          </a:solidFill>
                          <a:latin typeface="Arial"/>
                          <a:ea typeface="Arial"/>
                          <a:cs typeface="Arial"/>
                        </a:rPr>
                        <a:t>performance.</a:t>
                      </a:r>
                    </a:p>
                  </a:txBody>
                  <a:tcPr marL="133350" marR="133350" marT="57150" marB="57150" anchor="ctr">
                    <a:solidFill>
                      <a:srgbClr val="F7F7F2"/>
                    </a:solidFill>
                  </a:tcPr>
                </a:tc>
              </a:tr>
              <a:tr h="718185">
                <a:tc>
                  <a:txBody>
                    <a:bodyPr wrap="square">
                      <a:noAutofit/>
                    </a:bodyPr>
                    <a:lstStyle/>
                    <a:p>
                      <a:r>
                        <a:rPr sz="1800" b="0">
                          <a:solidFill>
                            <a:srgbClr val="132C39"/>
                          </a:solidFill>
                          <a:latin typeface="Arial"/>
                          <a:ea typeface="Arial"/>
                          <a:cs typeface="Arial"/>
                        </a:rPr>
                        <a:t>Sorting or growth selection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The phenotype tracks the desired biochemical property.</a:t>
                      </a:r>
                    </a:p>
                  </a:txBody>
                  <a:tcPr marL="133350" marR="133350" marT="57150" marB="57150" anchor="ctr">
                    <a:solidFill>
                      <a:srgbClr val="F7F7F2"/>
                    </a:solidFill>
                  </a:tcPr>
                </a:tc>
              </a:tr>
              <a:tr h="718185">
                <a:tc>
                  <a:txBody>
                    <a:bodyPr wrap="square">
                      <a:noAutofit/>
                    </a:bodyPr>
                    <a:lstStyle/>
                    <a:p>
                      <a:r>
                        <a:rPr sz="1800" b="0">
                          <a:solidFill>
                            <a:srgbClr val="132C39"/>
                          </a:solidFill>
                          <a:latin typeface="Arial"/>
                          <a:ea typeface="Arial"/>
                          <a:cs typeface="Arial"/>
                        </a:rPr>
                        <a:t>Cell-free expression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The parent works reproducibly and the existing host is</a:t>
                      </a:r>
                    </a:p>
                    <a:p>
                      <a:r>
                        <a:rPr sz="1800" b="0">
                          <a:solidFill>
                            <a:srgbClr val="132C39"/>
                          </a:solidFill>
                          <a:latin typeface="Arial"/>
                          <a:ea typeface="Arial"/>
                          <a:cs typeface="Arial"/>
                        </a:rPr>
                        <a:t>limiting.</a:t>
                      </a:r>
                    </a:p>
                  </a:txBody>
                  <a:tcPr marL="133350" marR="133350" marT="57150" marB="57150" anchor="ctr">
                    <a:solidFill>
                      <a:srgbClr val="F7F7F2"/>
                    </a:solidFill>
                  </a:tcPr>
                </a:tc>
              </a:tr>
              <a:tr h="718185">
                <a:tc>
                  <a:txBody>
                    <a:bodyPr wrap="square">
                      <a:noAutofit/>
                    </a:bodyPr>
                    <a:lstStyle/>
                    <a:p>
                      <a:r>
                        <a:rPr sz="1800" b="0">
                          <a:solidFill>
                            <a:srgbClr val="132C39"/>
                          </a:solidFill>
                          <a:latin typeface="Arial"/>
                          <a:ea typeface="Arial"/>
                          <a:cs typeface="Arial"/>
                        </a:rPr>
                        <a:t>Liquid-handling automation</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A stable transfer process and positive net capacity/cost</a:t>
                      </a:r>
                    </a:p>
                    <a:p>
                      <a:r>
                        <a:rPr sz="1800" b="0">
                          <a:solidFill>
                            <a:srgbClr val="132C39"/>
                          </a:solidFill>
                          <a:latin typeface="Arial"/>
                          <a:ea typeface="Arial"/>
                          <a:cs typeface="Arial"/>
                        </a:rPr>
                        <a:t>benefit.</a:t>
                      </a:r>
                    </a:p>
                  </a:txBody>
                  <a:tcPr marL="133350" marR="133350" marT="57150" marB="57150" anchor="ctr">
                    <a:solidFill>
                      <a:srgbClr val="F7F7F2"/>
                    </a:solidFill>
                  </a:tcPr>
                </a:tc>
              </a:tr>
              <a:tr h="718185">
                <a:tc>
                  <a:txBody>
                    <a:bodyPr wrap="square">
                      <a:noAutofit/>
                    </a:bodyPr>
                    <a:lstStyle/>
                    <a:p>
                      <a:r>
                        <a:rPr sz="1800" b="0">
                          <a:solidFill>
                            <a:srgbClr val="132C39"/>
                          </a:solidFill>
                          <a:latin typeface="Arial"/>
                          <a:ea typeface="Arial"/>
                          <a:cs typeface="Arial"/>
                        </a:rPr>
                        <a:t>Model-guided libraries</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Prospective benefit over a simple equal-budget baseline.</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1297387867"/>
      </p:ext>
    </p:extLst>
  </p:cSld>
</p:sld>
</file>

<file path=ppt/slides/slide2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9757B81C-9F22-4447-B2C5-815AD94DC579}"/>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Reference: the companion toolkit</a:t>
            </a:r>
          </a:p>
        </p:txBody>
      </p:sp>
      <p:sp>
        <p:nvSpPr>
          <p:cNvPr id="2" name="text-1">
            <a:extLst xmlns:a="http://schemas.openxmlformats.org/drawingml/2006/main">
              <a:ext uri="{FF2B5EF4-FFF2-40B4-BE49-F238E27FC236}">
                <a16:creationId xmlns:a16="http://schemas.microsoft.com/office/drawing/2014/main" id="{8B368289-D263-45DB-A718-D2419E873A9B}"/>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23</a:t>
            </a:r>
          </a:p>
        </p:txBody>
      </p:sp>
      <p:graphicFrame>
        <p:nvGraphicFramePr>
          <p:cNvPr id="6" name=""/>
          <p:cNvGraphicFramePr/>
          <p:nvPr/>
        </p:nvGraphicFramePr>
        <p:xfrm>
          <a:off xmlns:a="http://schemas.openxmlformats.org/drawingml/2006/main" x="609600" y="1590675"/>
          <a:ext xmlns:a="http://schemas.openxmlformats.org/drawingml/2006/main" cx="10972800" cy="4143375"/>
        </p:xfrm>
        <a:graphic xmlns:a="http://schemas.openxmlformats.org/drawingml/2006/main">
          <a:graphicData uri="http://schemas.openxmlformats.org/drawingml/2006/table">
            <a:tbl>
              <a:tblPr firstRow="1" bandRow="0"/>
              <a:tblGrid>
                <a:gridCol w="4476750"/>
                <a:gridCol w="6496050"/>
              </a:tblGrid>
              <a:tr h="552450">
                <a:tc>
                  <a:txBody>
                    <a:bodyPr wrap="square">
                      <a:noAutofit/>
                    </a:bodyPr>
                    <a:lstStyle/>
                    <a:p>
                      <a:r>
                        <a:rPr sz="1800" b="1">
                          <a:solidFill>
                            <a:srgbClr val="FFFFFF"/>
                          </a:solidFill>
                          <a:latin typeface="Arial"/>
                          <a:ea typeface="Arial"/>
                          <a:cs typeface="Arial"/>
                        </a:rPr>
                        <a:t>Resource</a:t>
                      </a:r>
                    </a:p>
                  </a:txBody>
                  <a:tcPr marL="133350" marR="133350" marT="57150" marB="57150" anchor="ctr">
                    <a:solidFill>
                      <a:srgbClr val="132C39"/>
                    </a:solidFill>
                  </a:tcPr>
                </a:tc>
                <a:tc>
                  <a:txBody>
                    <a:bodyPr wrap="square">
                      <a:noAutofit/>
                    </a:bodyPr>
                    <a:lstStyle/>
                    <a:p>
                      <a:r>
                        <a:rPr sz="1800" b="1">
                          <a:solidFill>
                            <a:srgbClr val="FFFFFF"/>
                          </a:solidFill>
                          <a:latin typeface="Arial"/>
                          <a:ea typeface="Arial"/>
                          <a:cs typeface="Arial"/>
                        </a:rPr>
                        <a:t>Use</a:t>
                      </a:r>
                    </a:p>
                  </a:txBody>
                  <a:tcPr marL="133350" marR="133350" marT="57150" marB="57150" anchor="ctr">
                    <a:solidFill>
                      <a:srgbClr val="132C39"/>
                    </a:solidFill>
                  </a:tcPr>
                </a:tc>
              </a:tr>
              <a:tr h="718185">
                <a:tc>
                  <a:txBody>
                    <a:bodyPr wrap="square">
                      <a:noAutofit/>
                    </a:bodyPr>
                    <a:lstStyle/>
                    <a:p>
                      <a:r>
                        <a:rPr sz="1800" b="0">
                          <a:solidFill>
                            <a:srgbClr val="132C39"/>
                          </a:solidFill>
                          <a:latin typeface="Arial"/>
                          <a:ea typeface="Arial"/>
                          <a:cs typeface="Arial"/>
                        </a:rPr>
                        <a:t>Campaign brief and acceptance</a:t>
                      </a:r>
                    </a:p>
                    <a:p>
                      <a:r>
                        <a:rPr sz="1800" b="0">
                          <a:solidFill>
                            <a:srgbClr val="132C39"/>
                          </a:solidFill>
                          <a:latin typeface="Arial"/>
                          <a:ea typeface="Arial"/>
                          <a:cs typeface="Arial"/>
                        </a:rPr>
                        <a:t>checklist</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Define the goal and establish equipment/access</a:t>
                      </a:r>
                    </a:p>
                    <a:p>
                      <a:r>
                        <a:rPr sz="1800" b="0">
                          <a:solidFill>
                            <a:srgbClr val="132C39"/>
                          </a:solidFill>
                          <a:latin typeface="Arial"/>
                          <a:ea typeface="Arial"/>
                          <a:cs typeface="Arial"/>
                        </a:rPr>
                        <a:t>requirements.</a:t>
                      </a:r>
                    </a:p>
                  </a:txBody>
                  <a:tcPr marL="133350" marR="133350" marT="57150" marB="57150" anchor="ctr">
                    <a:solidFill>
                      <a:srgbClr val="F7F7F2"/>
                    </a:solidFill>
                  </a:tcPr>
                </a:tc>
              </a:tr>
              <a:tr h="718185">
                <a:tc>
                  <a:txBody>
                    <a:bodyPr wrap="square">
                      <a:noAutofit/>
                    </a:bodyPr>
                    <a:lstStyle/>
                    <a:p>
                      <a:r>
                        <a:rPr sz="1800" b="0">
                          <a:solidFill>
                            <a:srgbClr val="132C39"/>
                          </a:solidFill>
                          <a:latin typeface="Arial"/>
                          <a:ea typeface="Arial"/>
                          <a:cs typeface="Arial"/>
                        </a:rPr>
                        <a:t>Plate map, clone register and</a:t>
                      </a:r>
                    </a:p>
                    <a:p>
                      <a:r>
                        <a:rPr sz="1800" b="0">
                          <a:solidFill>
                            <a:srgbClr val="132C39"/>
                          </a:solidFill>
                          <a:latin typeface="Arial"/>
                          <a:ea typeface="Arial"/>
                          <a:cs typeface="Arial"/>
                        </a:rPr>
                        <a:t>assay record</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Connect observations to conditions, sequence</a:t>
                      </a:r>
                    </a:p>
                    <a:p>
                      <a:r>
                        <a:rPr sz="1800" b="0">
                          <a:solidFill>
                            <a:srgbClr val="132C39"/>
                          </a:solidFill>
                          <a:latin typeface="Arial"/>
                          <a:ea typeface="Arial"/>
                          <a:cs typeface="Arial"/>
                        </a:rPr>
                        <a:t>status and stock.</a:t>
                      </a:r>
                    </a:p>
                  </a:txBody>
                  <a:tcPr marL="133350" marR="133350" marT="57150" marB="57150" anchor="ctr">
                    <a:solidFill>
                      <a:srgbClr val="F7F7F2"/>
                    </a:solidFill>
                  </a:tcPr>
                </a:tc>
              </a:tr>
              <a:tr h="718185">
                <a:tc>
                  <a:txBody>
                    <a:bodyPr wrap="square">
                      <a:noAutofit/>
                    </a:bodyPr>
                    <a:lstStyle/>
                    <a:p>
                      <a:r>
                        <a:rPr sz="1800" b="0">
                          <a:solidFill>
                            <a:srgbClr val="132C39"/>
                          </a:solidFill>
                          <a:latin typeface="Arial"/>
                          <a:ea typeface="Arial"/>
                          <a:cs typeface="Arial"/>
                        </a:rPr>
                        <a:t>Primary-screen analysis and</a:t>
                      </a:r>
                    </a:p>
                    <a:p>
                      <a:r>
                        <a:rPr sz="1800" b="0">
                          <a:solidFill>
                            <a:srgbClr val="132C39"/>
                          </a:solidFill>
                          <a:latin typeface="Arial"/>
                          <a:ea typeface="Arial"/>
                          <a:cs typeface="Arial"/>
                        </a:rPr>
                        <a:t>example report</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Fit rates, flag poor measurements and nominate</a:t>
                      </a:r>
                    </a:p>
                    <a:p>
                      <a:r>
                        <a:rPr sz="1800" b="0">
                          <a:solidFill>
                            <a:srgbClr val="132C39"/>
                          </a:solidFill>
                          <a:latin typeface="Arial"/>
                          <a:ea typeface="Arial"/>
                          <a:cs typeface="Arial"/>
                        </a:rPr>
                        <a:t>retests.</a:t>
                      </a:r>
                    </a:p>
                  </a:txBody>
                  <a:tcPr marL="133350" marR="133350" marT="57150" marB="57150" anchor="ctr">
                    <a:solidFill>
                      <a:srgbClr val="F7F7F2"/>
                    </a:solidFill>
                  </a:tcPr>
                </a:tc>
              </a:tr>
              <a:tr h="718185">
                <a:tc>
                  <a:txBody>
                    <a:bodyPr wrap="square">
                      <a:noAutofit/>
                    </a:bodyPr>
                    <a:lstStyle/>
                    <a:p>
                      <a:r>
                        <a:rPr sz="1800" b="0">
                          <a:solidFill>
                            <a:srgbClr val="132C39"/>
                          </a:solidFill>
                          <a:latin typeface="Arial"/>
                          <a:ea typeface="Arial"/>
                          <a:cs typeface="Arial"/>
                        </a:rPr>
                        <a:t>Budget and coverage workbook</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Match library scale to capacity and explicit cost</a:t>
                      </a:r>
                    </a:p>
                    <a:p>
                      <a:r>
                        <a:rPr sz="1800" b="0">
                          <a:solidFill>
                            <a:srgbClr val="132C39"/>
                          </a:solidFill>
                          <a:latin typeface="Arial"/>
                          <a:ea typeface="Arial"/>
                          <a:cs typeface="Arial"/>
                        </a:rPr>
                        <a:t>assumptions.</a:t>
                      </a:r>
                    </a:p>
                  </a:txBody>
                  <a:tcPr marL="133350" marR="133350" marT="57150" marB="57150" anchor="ctr">
                    <a:solidFill>
                      <a:srgbClr val="F7F7F2"/>
                    </a:solidFill>
                  </a:tcPr>
                </a:tc>
              </a:tr>
              <a:tr h="718185">
                <a:tc>
                  <a:txBody>
                    <a:bodyPr wrap="square">
                      <a:noAutofit/>
                    </a:bodyPr>
                    <a:lstStyle/>
                    <a:p>
                      <a:r>
                        <a:rPr sz="1800" b="0">
                          <a:solidFill>
                            <a:srgbClr val="132C39"/>
                          </a:solidFill>
                          <a:latin typeface="Arial"/>
                          <a:ea typeface="Arial"/>
                          <a:cs typeface="Arial"/>
                        </a:rPr>
                        <a:t>Round-review worksheet</a:t>
                      </a:r>
                    </a:p>
                  </a:txBody>
                  <a:tcPr marL="133350" marR="133350" marT="57150" marB="57150" anchor="ctr">
                    <a:solidFill>
                      <a:srgbClr val="F7F7F2"/>
                    </a:solidFill>
                  </a:tcPr>
                </a:tc>
                <a:tc>
                  <a:txBody>
                    <a:bodyPr wrap="square">
                      <a:noAutofit/>
                    </a:bodyPr>
                    <a:lstStyle/>
                    <a:p>
                      <a:r>
                        <a:rPr sz="1800" b="0">
                          <a:solidFill>
                            <a:srgbClr val="132C39"/>
                          </a:solidFill>
                          <a:latin typeface="Arial"/>
                          <a:ea typeface="Arial"/>
                          <a:cs typeface="Arial"/>
                        </a:rPr>
                        <a:t>Record confirmation evidence and choose the next</a:t>
                      </a:r>
                    </a:p>
                    <a:p>
                      <a:r>
                        <a:rPr sz="1800" b="0">
                          <a:solidFill>
                            <a:srgbClr val="132C39"/>
                          </a:solidFill>
                          <a:latin typeface="Arial"/>
                          <a:ea typeface="Arial"/>
                          <a:cs typeface="Arial"/>
                        </a:rPr>
                        <a:t>action.</a:t>
                      </a:r>
                    </a:p>
                  </a:txBody>
                  <a:tcPr marL="133350" marR="133350" marT="57150" marB="57150" anchor="ctr">
                    <a:solidFill>
                      <a:srgbClr val="F7F7F2"/>
                    </a:solidFill>
                  </a:tcPr>
                </a:tc>
              </a:tr>
            </a:tbl>
          </a:graphicData>
        </a:graphic>
      </p:graphicFrame>
    </p:spTree>
    <p:extLst>
      <p:ext uri="{BB962C8B-B14F-4D97-AF65-F5344CB8AC3E}">
        <p14:creationId xmlns:p14="http://schemas.microsoft.com/office/powerpoint/2010/main" val="1364220124"/>
      </p:ext>
    </p:extLst>
  </p:cSld>
</p:sld>
</file>

<file path=ppt/slides/slide2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AC448CF3-1C39-43D3-9339-8ED98E603B9E}"/>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32C39"/>
                </a:solidFill>
                <a:latin typeface="Arial"/>
                <a:ea typeface="Arial"/>
                <a:cs typeface="Arial"/>
              </a:defRPr>
            </a:pPr>
            <a:r>
              <a:rPr sz="3300" b="1">
                <a:solidFill>
                  <a:srgbClr val="132C39"/>
                </a:solidFill>
                <a:latin typeface="Arial"/>
                <a:ea typeface="Arial"/>
                <a:cs typeface="Arial"/>
              </a:rPr>
              <a:t>Reference: selected evidence</a:t>
            </a:r>
          </a:p>
        </p:txBody>
      </p:sp>
      <p:sp>
        <p:nvSpPr>
          <p:cNvPr id="2" name="text-1">
            <a:extLst xmlns:a="http://schemas.openxmlformats.org/drawingml/2006/main">
              <a:ext uri="{FF2B5EF4-FFF2-40B4-BE49-F238E27FC236}">
                <a16:creationId xmlns:a16="http://schemas.microsoft.com/office/drawing/2014/main" id="{D112903D-2738-48FD-8F06-703885444DF7}"/>
              </a:ext>
            </a:extLst>
          </p:cNvPr>
          <p:cNvSpPr>
            <a:spLocks xmlns:a="http://schemas.openxmlformats.org/drawingml/2006/main" noGrp="1"/>
          </p:cNvSpPr>
          <p:nvPr/>
        </p:nvSpPr>
        <p:spPr>
          <a:xfrm xmlns:a="http://schemas.openxmlformats.org/drawingml/2006/main">
            <a:off x="11106150" y="62769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56A73"/>
                </a:solidFill>
                <a:latin typeface="Arial"/>
                <a:ea typeface="Arial"/>
                <a:cs typeface="Arial"/>
              </a:defRPr>
            </a:pPr>
            <a:r>
              <a:rPr sz="1200" b="0">
                <a:solidFill>
                  <a:srgbClr val="556A73"/>
                </a:solidFill>
                <a:latin typeface="Arial"/>
                <a:ea typeface="Arial"/>
                <a:cs typeface="Arial"/>
              </a:rPr>
              <a:t>24</a:t>
            </a:r>
          </a:p>
        </p:txBody>
      </p:sp>
      <p:sp>
        <p:nvSpPr>
          <p:cNvPr id="3" name="text-2">
            <a:extLst xmlns:a="http://schemas.openxmlformats.org/drawingml/2006/main">
              <a:ext uri="{FF2B5EF4-FFF2-40B4-BE49-F238E27FC236}">
                <a16:creationId xmlns:a16="http://schemas.microsoft.com/office/drawing/2014/main" id="{104DC2DE-F968-432E-B66E-378B0EAB0E5E}"/>
              </a:ext>
            </a:extLst>
          </p:cNvPr>
          <p:cNvSpPr>
            <a:spLocks xmlns:a="http://schemas.openxmlformats.org/drawingml/2006/main" noGrp="1"/>
          </p:cNvSpPr>
          <p:nvPr/>
        </p:nvSpPr>
        <p:spPr>
          <a:xfrm xmlns:a="http://schemas.openxmlformats.org/drawingml/2006/main">
            <a:off x="609600" y="6210300"/>
            <a:ext cx="1019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56A73"/>
                </a:solidFill>
                <a:latin typeface="Arial"/>
                <a:ea typeface="Arial"/>
                <a:cs typeface="Arial"/>
              </a:defRPr>
            </a:pPr>
            <a:r>
              <a:rPr sz="1275" b="0">
                <a:solidFill>
                  <a:srgbClr val="556A73"/>
                </a:solidFill>
                <a:latin typeface="Arial"/>
                <a:ea typeface="Arial"/>
                <a:cs typeface="Arial"/>
              </a:rPr>
              <a:t>Full source links accompany the relevant slide notes and the handbook’s source map.</a:t>
            </a:r>
          </a:p>
        </p:txBody>
      </p:sp>
      <p:sp>
        <p:nvSpPr>
          <p:cNvPr id="4" name="text-3">
            <a:extLst xmlns:a="http://schemas.openxmlformats.org/drawingml/2006/main">
              <a:ext uri="{FF2B5EF4-FFF2-40B4-BE49-F238E27FC236}">
                <a16:creationId xmlns:a16="http://schemas.microsoft.com/office/drawing/2014/main" id="{31F201AA-2B83-4130-9E1D-2D1FA91D6E26}"/>
              </a:ext>
            </a:extLst>
          </p:cNvPr>
          <p:cNvSpPr>
            <a:spLocks xmlns:a="http://schemas.openxmlformats.org/drawingml/2006/main" noGrp="1"/>
          </p:cNvSpPr>
          <p:nvPr/>
        </p:nvSpPr>
        <p:spPr>
          <a:xfrm xmlns:a="http://schemas.openxmlformats.org/drawingml/2006/main">
            <a:off x="609600" y="1524000"/>
            <a:ext cx="4695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hlinkClick xmlns:r="http://schemas.openxmlformats.org/officeDocument/2006/relationships" r:id="Rd2f28ee1681b4df0"/>
              </a:rPr>
              <a:t>York project appendices</a:t>
            </a:r>
          </a:p>
        </p:txBody>
      </p:sp>
      <p:sp>
        <p:nvSpPr>
          <p:cNvPr id="5" name="text-4">
            <a:extLst xmlns:a="http://schemas.openxmlformats.org/drawingml/2006/main">
              <a:ext uri="{FF2B5EF4-FFF2-40B4-BE49-F238E27FC236}">
                <a16:creationId xmlns:a16="http://schemas.microsoft.com/office/drawing/2014/main" id="{843F8F1C-7286-427E-AD72-012E257991BC}"/>
              </a:ext>
            </a:extLst>
          </p:cNvPr>
          <p:cNvSpPr>
            <a:spLocks xmlns:a="http://schemas.openxmlformats.org/drawingml/2006/main" noGrp="1"/>
          </p:cNvSpPr>
          <p:nvPr/>
        </p:nvSpPr>
        <p:spPr>
          <a:xfrm xmlns:a="http://schemas.openxmlformats.org/drawingml/2006/main">
            <a:off x="5572125" y="1524000"/>
            <a:ext cx="595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Imaging setup and sensor-evolution lessons</a:t>
            </a:r>
          </a:p>
        </p:txBody>
      </p:sp>
      <p:sp>
        <p:nvSpPr>
          <p:cNvPr id="6" name="text-5">
            <a:extLst xmlns:a="http://schemas.openxmlformats.org/drawingml/2006/main">
              <a:ext uri="{FF2B5EF4-FFF2-40B4-BE49-F238E27FC236}">
                <a16:creationId xmlns:a16="http://schemas.microsoft.com/office/drawing/2014/main" id="{C106252B-332C-4656-B5B2-DB70971310EE}"/>
              </a:ext>
            </a:extLst>
          </p:cNvPr>
          <p:cNvSpPr>
            <a:spLocks xmlns:a="http://schemas.openxmlformats.org/drawingml/2006/main" noGrp="1"/>
          </p:cNvSpPr>
          <p:nvPr/>
        </p:nvSpPr>
        <p:spPr>
          <a:xfrm xmlns:a="http://schemas.openxmlformats.org/drawingml/2006/main">
            <a:off x="609600" y="2247900"/>
            <a:ext cx="4695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hlinkClick xmlns:r="http://schemas.openxmlformats.org/officeDocument/2006/relationships" r:id="R79c62685a6a84c7b"/>
              </a:rPr>
              <a:t>Assay Guidance Manual</a:t>
            </a:r>
          </a:p>
        </p:txBody>
      </p:sp>
      <p:sp>
        <p:nvSpPr>
          <p:cNvPr id="7" name="text-6">
            <a:extLst xmlns:a="http://schemas.openxmlformats.org/drawingml/2006/main">
              <a:ext uri="{FF2B5EF4-FFF2-40B4-BE49-F238E27FC236}">
                <a16:creationId xmlns:a16="http://schemas.microsoft.com/office/drawing/2014/main" id="{FF822741-83DD-463F-9580-604EFB2CA5A8}"/>
              </a:ext>
            </a:extLst>
          </p:cNvPr>
          <p:cNvSpPr>
            <a:spLocks xmlns:a="http://schemas.openxmlformats.org/drawingml/2006/main" noGrp="1"/>
          </p:cNvSpPr>
          <p:nvPr/>
        </p:nvSpPr>
        <p:spPr>
          <a:xfrm xmlns:a="http://schemas.openxmlformats.org/drawingml/2006/main">
            <a:off x="5572125" y="2247900"/>
            <a:ext cx="595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Enzyme assay development and interpretation</a:t>
            </a:r>
          </a:p>
        </p:txBody>
      </p:sp>
      <p:sp>
        <p:nvSpPr>
          <p:cNvPr id="8" name="text-7">
            <a:extLst xmlns:a="http://schemas.openxmlformats.org/drawingml/2006/main">
              <a:ext uri="{FF2B5EF4-FFF2-40B4-BE49-F238E27FC236}">
                <a16:creationId xmlns:a16="http://schemas.microsoft.com/office/drawing/2014/main" id="{25DB6A43-16B7-489F-A65F-80433687CE5B}"/>
              </a:ext>
            </a:extLst>
          </p:cNvPr>
          <p:cNvSpPr>
            <a:spLocks xmlns:a="http://schemas.openxmlformats.org/drawingml/2006/main" noGrp="1"/>
          </p:cNvSpPr>
          <p:nvPr/>
        </p:nvSpPr>
        <p:spPr>
          <a:xfrm xmlns:a="http://schemas.openxmlformats.org/drawingml/2006/main">
            <a:off x="609600" y="2971800"/>
            <a:ext cx="4695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hlinkClick xmlns:r="http://schemas.openxmlformats.org/officeDocument/2006/relationships" r:id="R08d326f5115e4fef"/>
              </a:rPr>
              <a:t>Firth and Patrick, 2005</a:t>
            </a:r>
          </a:p>
        </p:txBody>
      </p:sp>
      <p:sp>
        <p:nvSpPr>
          <p:cNvPr id="9" name="text-8">
            <a:extLst xmlns:a="http://schemas.openxmlformats.org/drawingml/2006/main">
              <a:ext uri="{FF2B5EF4-FFF2-40B4-BE49-F238E27FC236}">
                <a16:creationId xmlns:a16="http://schemas.microsoft.com/office/drawing/2014/main" id="{CCFE725C-3512-44CE-B8F6-B67B87F47819}"/>
              </a:ext>
            </a:extLst>
          </p:cNvPr>
          <p:cNvSpPr>
            <a:spLocks xmlns:a="http://schemas.openxmlformats.org/drawingml/2006/main" noGrp="1"/>
          </p:cNvSpPr>
          <p:nvPr/>
        </p:nvSpPr>
        <p:spPr>
          <a:xfrm xmlns:a="http://schemas.openxmlformats.org/drawingml/2006/main">
            <a:off x="5572125" y="2971800"/>
            <a:ext cx="595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Protein-library statistics</a:t>
            </a:r>
          </a:p>
        </p:txBody>
      </p:sp>
      <p:sp>
        <p:nvSpPr>
          <p:cNvPr id="10" name="text-9">
            <a:extLst xmlns:a="http://schemas.openxmlformats.org/drawingml/2006/main">
              <a:ext uri="{FF2B5EF4-FFF2-40B4-BE49-F238E27FC236}">
                <a16:creationId xmlns:a16="http://schemas.microsoft.com/office/drawing/2014/main" id="{3B95128F-0FCE-4FEF-8FE1-BD6139073C0E}"/>
              </a:ext>
            </a:extLst>
          </p:cNvPr>
          <p:cNvSpPr>
            <a:spLocks xmlns:a="http://schemas.openxmlformats.org/drawingml/2006/main" noGrp="1"/>
          </p:cNvSpPr>
          <p:nvPr/>
        </p:nvSpPr>
        <p:spPr>
          <a:xfrm xmlns:a="http://schemas.openxmlformats.org/drawingml/2006/main">
            <a:off x="609600" y="3695700"/>
            <a:ext cx="4695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hlinkClick xmlns:r="http://schemas.openxmlformats.org/officeDocument/2006/relationships" r:id="Recd81953377d40f9"/>
              </a:rPr>
              <a:t>BSLA study, 2020</a:t>
            </a:r>
          </a:p>
        </p:txBody>
      </p:sp>
      <p:sp>
        <p:nvSpPr>
          <p:cNvPr id="11" name="text-10">
            <a:extLst xmlns:a="http://schemas.openxmlformats.org/drawingml/2006/main">
              <a:ext uri="{FF2B5EF4-FFF2-40B4-BE49-F238E27FC236}">
                <a16:creationId xmlns:a16="http://schemas.microsoft.com/office/drawing/2014/main" id="{EA7A7070-5F77-49D3-A251-BBF9835F0394}"/>
              </a:ext>
            </a:extLst>
          </p:cNvPr>
          <p:cNvSpPr>
            <a:spLocks xmlns:a="http://schemas.openxmlformats.org/drawingml/2006/main" noGrp="1"/>
          </p:cNvSpPr>
          <p:nvPr/>
        </p:nvSpPr>
        <p:spPr>
          <a:xfrm xmlns:a="http://schemas.openxmlformats.org/drawingml/2006/main">
            <a:off x="5572125" y="3695700"/>
            <a:ext cx="595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LipA optical-screening example</a:t>
            </a:r>
          </a:p>
        </p:txBody>
      </p:sp>
      <p:sp>
        <p:nvSpPr>
          <p:cNvPr id="12" name="text-11">
            <a:extLst xmlns:a="http://schemas.openxmlformats.org/drawingml/2006/main">
              <a:ext uri="{FF2B5EF4-FFF2-40B4-BE49-F238E27FC236}">
                <a16:creationId xmlns:a16="http://schemas.microsoft.com/office/drawing/2014/main" id="{32DCB071-A4F3-4484-9A66-4118908DA3F9}"/>
              </a:ext>
            </a:extLst>
          </p:cNvPr>
          <p:cNvSpPr>
            <a:spLocks xmlns:a="http://schemas.openxmlformats.org/drawingml/2006/main" noGrp="1"/>
          </p:cNvSpPr>
          <p:nvPr/>
        </p:nvSpPr>
        <p:spPr>
          <a:xfrm xmlns:a="http://schemas.openxmlformats.org/drawingml/2006/main">
            <a:off x="609600" y="4419600"/>
            <a:ext cx="4695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hlinkClick xmlns:r="http://schemas.openxmlformats.org/officeDocument/2006/relationships" r:id="Rafe2317c51254b26"/>
              </a:rPr>
              <a:t>L. kefir ADH characterization</a:t>
            </a:r>
          </a:p>
        </p:txBody>
      </p:sp>
      <p:sp>
        <p:nvSpPr>
          <p:cNvPr id="13" name="text-12">
            <a:extLst xmlns:a="http://schemas.openxmlformats.org/drawingml/2006/main">
              <a:ext uri="{FF2B5EF4-FFF2-40B4-BE49-F238E27FC236}">
                <a16:creationId xmlns:a16="http://schemas.microsoft.com/office/drawing/2014/main" id="{CA4D0038-595A-4CD2-8EE9-BE9A35B0AAA1}"/>
              </a:ext>
            </a:extLst>
          </p:cNvPr>
          <p:cNvSpPr>
            <a:spLocks xmlns:a="http://schemas.openxmlformats.org/drawingml/2006/main" noGrp="1"/>
          </p:cNvSpPr>
          <p:nvPr/>
        </p:nvSpPr>
        <p:spPr>
          <a:xfrm xmlns:a="http://schemas.openxmlformats.org/drawingml/2006/main">
            <a:off x="5572125" y="4419600"/>
            <a:ext cx="595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Identity of the NADH-dependent parent</a:t>
            </a:r>
          </a:p>
        </p:txBody>
      </p:sp>
      <p:sp>
        <p:nvSpPr>
          <p:cNvPr id="14" name="text-13">
            <a:extLst xmlns:a="http://schemas.openxmlformats.org/drawingml/2006/main">
              <a:ext uri="{FF2B5EF4-FFF2-40B4-BE49-F238E27FC236}">
                <a16:creationId xmlns:a16="http://schemas.microsoft.com/office/drawing/2014/main" id="{E0F32AD4-9A29-4A40-863C-4D80CBEDA648}"/>
              </a:ext>
            </a:extLst>
          </p:cNvPr>
          <p:cNvSpPr>
            <a:spLocks xmlns:a="http://schemas.openxmlformats.org/drawingml/2006/main" noGrp="1"/>
          </p:cNvSpPr>
          <p:nvPr/>
        </p:nvSpPr>
        <p:spPr>
          <a:xfrm xmlns:a="http://schemas.openxmlformats.org/drawingml/2006/main">
            <a:off x="609600" y="5143500"/>
            <a:ext cx="4695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7F7B"/>
                </a:solidFill>
                <a:latin typeface="Arial"/>
                <a:ea typeface="Arial"/>
                <a:cs typeface="Arial"/>
              </a:defRPr>
            </a:pPr>
            <a:r>
              <a:rPr sz="1950" b="1">
                <a:solidFill>
                  <a:srgbClr val="127F7B"/>
                </a:solidFill>
                <a:latin typeface="Arial"/>
                <a:ea typeface="Arial"/>
                <a:cs typeface="Arial"/>
                <a:hlinkClick xmlns:r="http://schemas.openxmlformats.org/officeDocument/2006/relationships" r:id="R19a4f6750845416f"/>
              </a:rPr>
              <a:t>P450 BM3 screening comparison</a:t>
            </a:r>
          </a:p>
        </p:txBody>
      </p:sp>
      <p:sp>
        <p:nvSpPr>
          <p:cNvPr id="15" name="text-14">
            <a:extLst xmlns:a="http://schemas.openxmlformats.org/drawingml/2006/main">
              <a:ext uri="{FF2B5EF4-FFF2-40B4-BE49-F238E27FC236}">
                <a16:creationId xmlns:a16="http://schemas.microsoft.com/office/drawing/2014/main" id="{90C7616F-9095-4C28-AC7B-284AEF833E02}"/>
              </a:ext>
            </a:extLst>
          </p:cNvPr>
          <p:cNvSpPr>
            <a:spLocks xmlns:a="http://schemas.openxmlformats.org/drawingml/2006/main" noGrp="1"/>
          </p:cNvSpPr>
          <p:nvPr/>
        </p:nvSpPr>
        <p:spPr>
          <a:xfrm xmlns:a="http://schemas.openxmlformats.org/drawingml/2006/main">
            <a:off x="5572125" y="5143500"/>
            <a:ext cx="5953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C39"/>
                </a:solidFill>
                <a:latin typeface="Arial"/>
                <a:ea typeface="Arial"/>
                <a:cs typeface="Arial"/>
              </a:defRPr>
            </a:pPr>
            <a:r>
              <a:rPr sz="1875" b="0">
                <a:solidFill>
                  <a:srgbClr val="132C39"/>
                </a:solidFill>
                <a:latin typeface="Arial"/>
                <a:ea typeface="Arial"/>
                <a:cs typeface="Arial"/>
              </a:rPr>
              <a:t>Product measurement versus cofactor depletion</a:t>
            </a:r>
          </a:p>
        </p:txBody>
      </p:sp>
    </p:spTree>
    <p:extLst>
      <p:ext uri="{BB962C8B-B14F-4D97-AF65-F5344CB8AC3E}">
        <p14:creationId xmlns:p14="http://schemas.microsoft.com/office/powerpoint/2010/main" val="20281220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2026-09-09T08:07:09.1190000Z</dcterms:created>
  <dcterms:modified xsi:type="dcterms:W3CDTF">2026-09-09T08:07:09.1190000Z</dcterms:modified>
</coreProperties>
</file>